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5"/>
  </p:handoutMasterIdLst>
  <p:sldIdLst>
    <p:sldId id="715" r:id="rId2"/>
    <p:sldId id="714" r:id="rId3"/>
  </p:sldIdLst>
  <p:sldSz cx="18288000" cy="10287000"/>
  <p:notesSz cx="6858000" cy="9144000"/>
  <p:embeddedFontLst>
    <p:embeddedFont>
      <p:font typeface="三极行楷简体-粗" panose="020B0604020202020204" charset="-122"/>
      <p:regular r:id="rId6"/>
    </p:embeddedFont>
    <p:embeddedFont>
      <p:font typeface="思源宋体 CN Medium" panose="020B0604020202020204" charset="-128"/>
      <p:regular r:id="rId7"/>
    </p:embeddedFont>
    <p:embeddedFont>
      <p:font typeface="Cambria Math" panose="02040503050406030204" pitchFamily="18" charset="0"/>
      <p:regular r:id="rId8"/>
    </p:embeddedFont>
  </p:embeddedFont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8" userDrawn="1">
          <p15:clr>
            <a:srgbClr val="A4A3A4"/>
          </p15:clr>
        </p15:guide>
        <p15:guide id="2" pos="27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婷婷 赵" initials="婷赵"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13D94"/>
    <a:srgbClr val="01A2B3"/>
    <a:srgbClr val="018594"/>
    <a:srgbClr val="E9EDF4"/>
    <a:srgbClr val="FBDFBE"/>
    <a:srgbClr val="FFF6D1"/>
    <a:srgbClr val="024D9D"/>
    <a:srgbClr val="0046DA"/>
    <a:srgbClr val="EABE10"/>
    <a:srgbClr val="0B5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16" autoAdjust="0"/>
    <p:restoredTop sz="89734" autoAdjust="0"/>
  </p:normalViewPr>
  <p:slideViewPr>
    <p:cSldViewPr showGuides="1">
      <p:cViewPr varScale="1">
        <p:scale>
          <a:sx n="56" d="100"/>
          <a:sy n="56" d="100"/>
        </p:scale>
        <p:origin x="160" y="68"/>
      </p:cViewPr>
      <p:guideLst>
        <p:guide orient="horz" pos="2258"/>
        <p:guide pos="2768"/>
      </p:guideLst>
    </p:cSldViewPr>
  </p:slideViewPr>
  <p:outlineViewPr>
    <p:cViewPr>
      <p:scale>
        <a:sx n="33" d="100"/>
        <a:sy n="33" d="100"/>
      </p:scale>
      <p:origin x="0" y="0"/>
    </p:cViewPr>
  </p:outlineViewPr>
  <p:notesTextViewPr>
    <p:cViewPr>
      <p:scale>
        <a:sx n="75" d="100"/>
        <a:sy n="75" d="100"/>
      </p:scale>
      <p:origin x="0" y="0"/>
    </p:cViewPr>
  </p:notesTextViewPr>
  <p:sorterViewPr>
    <p:cViewPr>
      <p:scale>
        <a:sx n="200" d="100"/>
        <a:sy n="200" d="100"/>
      </p:scale>
      <p:origin x="0" y="-361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presProps" Target="presProps.xml"/><Relationship Id="rId5" Type="http://schemas.openxmlformats.org/officeDocument/2006/relationships/handoutMaster" Target="handoutMasters/handoutMaster1.xml"/><Relationship Id="rId10"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Times New Roman" panose="02020603050405020304" pitchFamily="18" charset="0"/>
              <a:ea typeface="思源宋体 CN Medium" panose="02020500000000000000" charset="-122"/>
              <a:cs typeface="Times New Roman" panose="02020603050405020304" pitchFamily="18"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Times New Roman" panose="02020603050405020304" pitchFamily="18" charset="0"/>
                <a:ea typeface="思源宋体 CN Medium" panose="02020500000000000000" charset="-122"/>
                <a:cs typeface="Times New Roman" panose="02020603050405020304" pitchFamily="18" charset="0"/>
              </a:rPr>
              <a:t>2026-09-29</a:t>
            </a:fld>
            <a:endParaRPr lang="zh-CN" altLang="en-US">
              <a:latin typeface="Times New Roman" panose="02020603050405020304" pitchFamily="18" charset="0"/>
              <a:ea typeface="思源宋体 CN Medium" panose="02020500000000000000" charset="-122"/>
              <a:cs typeface="Times New Roman" panose="02020603050405020304" pitchFamily="18"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Times New Roman" panose="02020603050405020304" pitchFamily="18" charset="0"/>
              <a:ea typeface="思源宋体 CN Medium" panose="02020500000000000000" charset="-122"/>
              <a:cs typeface="Times New Roman" panose="02020603050405020304" pitchFamily="18"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Times New Roman" panose="02020603050405020304" pitchFamily="18" charset="0"/>
                <a:ea typeface="思源宋体 CN Medium" panose="02020500000000000000" charset="-122"/>
                <a:cs typeface="Times New Roman" panose="02020603050405020304" pitchFamily="18" charset="0"/>
              </a:rPr>
              <a:t>‹#›</a:t>
            </a:fld>
            <a:endParaRPr lang="zh-CN" altLang="en-US">
              <a:latin typeface="Times New Roman" panose="02020603050405020304" pitchFamily="18" charset="0"/>
              <a:ea typeface="思源宋体 CN Medium" panose="02020500000000000000" charset="-122"/>
              <a:cs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Medium" panose="02020500000000000000" charset="-122"/>
                <a:ea typeface="思源宋体 CN Medium" panose="02020500000000000000" charset="-122"/>
                <a:cs typeface="Times New Roman" panose="02020603050405020304" pitchFamily="18"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Medium" panose="02020500000000000000" charset="-122"/>
                <a:ea typeface="思源宋体 CN Medium" panose="02020500000000000000" charset="-122"/>
                <a:cs typeface="Times New Roman" panose="02020603050405020304" pitchFamily="18" charset="0"/>
              </a:defRPr>
            </a:lvl1pPr>
          </a:lstStyle>
          <a:p>
            <a:fld id="{FB184A8B-638A-456F-8577-8967ED5CAB3C}" type="datetimeFigureOut">
              <a:rPr lang="zh-CN" altLang="en-US" smtClean="0"/>
              <a:t>2026-09-29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Medium" panose="02020500000000000000" charset="-122"/>
                <a:ea typeface="思源宋体 CN Medium" panose="02020500000000000000" charset="-122"/>
                <a:cs typeface="Times New Roman" panose="02020603050405020304" pitchFamily="18"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Medium" panose="02020500000000000000" charset="-122"/>
                <a:ea typeface="思源宋体 CN Medium" panose="02020500000000000000" charset="-122"/>
                <a:cs typeface="Times New Roman" panose="02020603050405020304" pitchFamily="18" charset="0"/>
              </a:defRPr>
            </a:lvl1pPr>
          </a:lstStyle>
          <a:p>
            <a:fld id="{8B6A4FC8-B6D3-4FAD-B49B-7B65511E698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Medium" panose="02020500000000000000" charset="-122"/>
        <a:ea typeface="思源宋体 CN Medium" panose="02020500000000000000" charset="-122"/>
        <a:cs typeface="Times New Roman" panose="02020603050405020304" pitchFamily="18" charset="0"/>
      </a:defRPr>
    </a:lvl1pPr>
    <a:lvl2pPr marL="457200" algn="l" defTabSz="914400" rtl="0" eaLnBrk="1" latinLnBrk="0" hangingPunct="1">
      <a:defRPr sz="1200" kern="1200">
        <a:solidFill>
          <a:schemeClr val="tx1"/>
        </a:solidFill>
        <a:latin typeface="思源宋体 CN Medium" panose="02020500000000000000" charset="-122"/>
        <a:ea typeface="思源宋体 CN Medium" panose="02020500000000000000" charset="-122"/>
        <a:cs typeface="Times New Roman" panose="02020603050405020304" pitchFamily="18" charset="0"/>
      </a:defRPr>
    </a:lvl2pPr>
    <a:lvl3pPr marL="914400" algn="l" defTabSz="914400" rtl="0" eaLnBrk="1" latinLnBrk="0" hangingPunct="1">
      <a:defRPr sz="1200" kern="1200">
        <a:solidFill>
          <a:schemeClr val="tx1"/>
        </a:solidFill>
        <a:latin typeface="思源宋体 CN Medium" panose="02020500000000000000" charset="-122"/>
        <a:ea typeface="思源宋体 CN Medium" panose="02020500000000000000" charset="-122"/>
        <a:cs typeface="Times New Roman" panose="02020603050405020304" pitchFamily="18" charset="0"/>
      </a:defRPr>
    </a:lvl3pPr>
    <a:lvl4pPr marL="1371600" algn="l" defTabSz="914400" rtl="0" eaLnBrk="1" latinLnBrk="0" hangingPunct="1">
      <a:defRPr sz="1200" kern="1200">
        <a:solidFill>
          <a:schemeClr val="tx1"/>
        </a:solidFill>
        <a:latin typeface="思源宋体 CN Medium" panose="02020500000000000000" charset="-122"/>
        <a:ea typeface="思源宋体 CN Medium" panose="02020500000000000000" charset="-122"/>
        <a:cs typeface="Times New Roman" panose="02020603050405020304" pitchFamily="18" charset="0"/>
      </a:defRPr>
    </a:lvl4pPr>
    <a:lvl5pPr marL="1828800" algn="l" defTabSz="914400" rtl="0" eaLnBrk="1" latinLnBrk="0" hangingPunct="1">
      <a:defRPr sz="1200" kern="1200">
        <a:solidFill>
          <a:schemeClr val="tx1"/>
        </a:solidFill>
        <a:latin typeface="思源宋体 CN Medium" panose="02020500000000000000" charset="-122"/>
        <a:ea typeface="思源宋体 CN Medium" panose="02020500000000000000" charset="-122"/>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思源宋体 CN Medium" panose="02020500000000000000" charset="-122"/>
                <a:cs typeface="Times New Roman" panose="02020603050405020304" pitchFamily="18" charset="0"/>
              </a:defRPr>
            </a:lvl1pPr>
          </a:lstStyle>
          <a:p>
            <a:fld id="{1D8BD707-D9CF-40AE-B4C6-C98DA3205C09}"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思源宋体 CN Medium" panose="02020500000000000000" charset="-122"/>
                <a:cs typeface="Times New Roman" panose="02020603050405020304"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思源宋体 CN Medium" panose="02020500000000000000" charset="-122"/>
                <a:cs typeface="Times New Roman" panose="02020603050405020304" pitchFamily="18" charset="0"/>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思源宋体 CN Medium" panose="02020500000000000000" charset="-122"/>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_rels/slide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120.png"/><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DC5FB-AE3E-DA16-F193-D031CF50C7D8}"/>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1597EC46-5362-A6A6-EB36-1B48BC93FD6D}"/>
              </a:ext>
            </a:extLst>
          </p:cNvPr>
          <p:cNvSpPr/>
          <p:nvPr/>
        </p:nvSpPr>
        <p:spPr>
          <a:xfrm>
            <a:off x="0" y="-10887"/>
            <a:ext cx="18288000" cy="600213"/>
          </a:xfrm>
          <a:prstGeom prst="roundRect">
            <a:avLst/>
          </a:prstGeom>
          <a:solidFill>
            <a:schemeClr val="accent1">
              <a:lumMod val="20000"/>
              <a:lumOff val="80000"/>
            </a:schemeClr>
          </a:solidFill>
          <a:ln w="12700" cap="flat" cmpd="sng" algn="ctr">
            <a:noFill/>
            <a:prstDash val="solid"/>
            <a:miter lim="800000"/>
          </a:ln>
        </p:spPr>
        <p:txBody>
          <a:bodyPr rtlCol="0" anchor="ctr"/>
          <a:lstStyle/>
          <a:p>
            <a:pPr algn="ctr"/>
            <a:r>
              <a:rPr lang="en-US" altLang="zh-CN" sz="2000" b="1" dirty="0"/>
              <a:t>An Enhanced Plant Growth Algorithm with Adam Learning, Lévy Flight, and Dynamic Stage Control</a:t>
            </a:r>
          </a:p>
          <a:p>
            <a:pPr algn="ctr"/>
            <a:r>
              <a:rPr lang="de-DE" altLang="zh-CN" sz="1600" b="1" dirty="0"/>
              <a:t>Yuhang Xie, </a:t>
            </a:r>
            <a:r>
              <a:rPr lang="de-DE" altLang="zh-CN" sz="1600" dirty="0"/>
              <a:t>Wei Li, Bin Qin and Shang Gao *</a:t>
            </a:r>
            <a:r>
              <a:rPr lang="en-US" altLang="zh-CN" sz="1600" b="1" dirty="0"/>
              <a:t>,</a:t>
            </a:r>
            <a:r>
              <a:rPr lang="zh-CN" altLang="en-US" sz="1600" b="1" dirty="0"/>
              <a:t> </a:t>
            </a:r>
            <a:r>
              <a:rPr lang="en-US" altLang="zh-CN" sz="1600" dirty="0"/>
              <a:t>School of Computer, Jiangsu University of Science and Technology, Zhenjiang 212001, China</a:t>
            </a:r>
            <a:endParaRPr lang="en-US" altLang="zh-CN" sz="2000" b="1" dirty="0"/>
          </a:p>
        </p:txBody>
      </p:sp>
      <p:sp>
        <p:nvSpPr>
          <p:cNvPr id="14" name="矩形: 圆角 13">
            <a:extLst>
              <a:ext uri="{FF2B5EF4-FFF2-40B4-BE49-F238E27FC236}">
                <a16:creationId xmlns:a16="http://schemas.microsoft.com/office/drawing/2014/main" id="{43B80B99-A91E-8893-5078-4E2BB0AED86A}"/>
              </a:ext>
            </a:extLst>
          </p:cNvPr>
          <p:cNvSpPr/>
          <p:nvPr/>
        </p:nvSpPr>
        <p:spPr>
          <a:xfrm>
            <a:off x="41253" y="594997"/>
            <a:ext cx="4608161" cy="423742"/>
          </a:xfrm>
          <a:prstGeom prst="roundRect">
            <a:avLst>
              <a:gd name="adj" fmla="val 0"/>
            </a:avLst>
          </a:prstGeom>
          <a:solidFill>
            <a:srgbClr val="013D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INTRODUCTION</a:t>
            </a:r>
            <a:endParaRPr lang="zh-CN" altLang="en-US" sz="2000" dirty="0">
              <a:solidFill>
                <a:schemeClr val="bg1"/>
              </a:solidFill>
            </a:endParaRPr>
          </a:p>
        </p:txBody>
      </p:sp>
      <p:sp>
        <p:nvSpPr>
          <p:cNvPr id="5" name="矩形: 圆角 4">
            <a:extLst>
              <a:ext uri="{FF2B5EF4-FFF2-40B4-BE49-F238E27FC236}">
                <a16:creationId xmlns:a16="http://schemas.microsoft.com/office/drawing/2014/main" id="{86C04EDA-67D6-AA85-440F-23F107A6DEB1}"/>
              </a:ext>
            </a:extLst>
          </p:cNvPr>
          <p:cNvSpPr/>
          <p:nvPr/>
        </p:nvSpPr>
        <p:spPr>
          <a:xfrm>
            <a:off x="4827042" y="597233"/>
            <a:ext cx="7056128" cy="430563"/>
          </a:xfrm>
          <a:prstGeom prst="roundRect">
            <a:avLst>
              <a:gd name="adj" fmla="val 0"/>
            </a:avLst>
          </a:prstGeom>
          <a:solidFill>
            <a:srgbClr val="013D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MOTIVATION</a:t>
            </a:r>
            <a:endParaRPr lang="zh-CN" altLang="en-US" sz="2000" dirty="0">
              <a:solidFill>
                <a:schemeClr val="bg1"/>
              </a:solidFill>
            </a:endParaRPr>
          </a:p>
        </p:txBody>
      </p:sp>
      <p:sp>
        <p:nvSpPr>
          <p:cNvPr id="8" name="文本框 7">
            <a:extLst>
              <a:ext uri="{FF2B5EF4-FFF2-40B4-BE49-F238E27FC236}">
                <a16:creationId xmlns:a16="http://schemas.microsoft.com/office/drawing/2014/main" id="{8C004A9E-EDDA-E81A-9750-6E88FDAB03ED}"/>
              </a:ext>
            </a:extLst>
          </p:cNvPr>
          <p:cNvSpPr txBox="1"/>
          <p:nvPr/>
        </p:nvSpPr>
        <p:spPr>
          <a:xfrm>
            <a:off x="4837530" y="1006052"/>
            <a:ext cx="6968512" cy="1077218"/>
          </a:xfrm>
          <a:prstGeom prst="rect">
            <a:avLst/>
          </a:prstGeom>
          <a:noFill/>
        </p:spPr>
        <p:txBody>
          <a:bodyPr wrap="square">
            <a:spAutoFit/>
          </a:bodyPr>
          <a:lstStyle/>
          <a:p>
            <a:pPr>
              <a:lnSpc>
                <a:spcPct val="100000"/>
              </a:lnSpc>
            </a:pPr>
            <a:r>
              <a:rPr lang="en-US" altLang="zh-CN" sz="1600" dirty="0"/>
              <a:t>When the objective function has no true gradient, can the relationship between population position and fitness construct a proxy signal with directional information, and allow Adam moment memory, and bias correction to continue to function?</a:t>
            </a:r>
            <a:endParaRPr lang="zh-CN" altLang="en-US" sz="1600" dirty="0"/>
          </a:p>
        </p:txBody>
      </p:sp>
      <p:sp>
        <p:nvSpPr>
          <p:cNvPr id="15" name="矩形: 圆角 14">
            <a:extLst>
              <a:ext uri="{FF2B5EF4-FFF2-40B4-BE49-F238E27FC236}">
                <a16:creationId xmlns:a16="http://schemas.microsoft.com/office/drawing/2014/main" id="{2D1264D9-9547-5039-3E4D-C44E76CA8DD0}"/>
              </a:ext>
            </a:extLst>
          </p:cNvPr>
          <p:cNvSpPr/>
          <p:nvPr/>
        </p:nvSpPr>
        <p:spPr>
          <a:xfrm>
            <a:off x="4832285" y="600335"/>
            <a:ext cx="7056129" cy="2207396"/>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grpSp>
        <p:nvGrpSpPr>
          <p:cNvPr id="21" name="组合 20">
            <a:extLst>
              <a:ext uri="{FF2B5EF4-FFF2-40B4-BE49-F238E27FC236}">
                <a16:creationId xmlns:a16="http://schemas.microsoft.com/office/drawing/2014/main" id="{6CC634C8-E224-E6DC-F6C7-CA5EFE1E814A}"/>
              </a:ext>
            </a:extLst>
          </p:cNvPr>
          <p:cNvGrpSpPr/>
          <p:nvPr/>
        </p:nvGrpSpPr>
        <p:grpSpPr>
          <a:xfrm>
            <a:off x="41253" y="2836129"/>
            <a:ext cx="18150034" cy="2434958"/>
            <a:chOff x="533400" y="2009099"/>
            <a:chExt cx="3429000" cy="3363001"/>
          </a:xfrm>
        </p:grpSpPr>
        <p:sp>
          <p:nvSpPr>
            <p:cNvPr id="23" name="矩形: 圆角 22">
              <a:extLst>
                <a:ext uri="{FF2B5EF4-FFF2-40B4-BE49-F238E27FC236}">
                  <a16:creationId xmlns:a16="http://schemas.microsoft.com/office/drawing/2014/main" id="{930ACE7F-10B8-55BF-4B53-9E87A8AA3A6E}"/>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22" name="矩形: 圆角 21">
              <a:extLst>
                <a:ext uri="{FF2B5EF4-FFF2-40B4-BE49-F238E27FC236}">
                  <a16:creationId xmlns:a16="http://schemas.microsoft.com/office/drawing/2014/main" id="{B143A73F-832C-797C-E2A2-7C0ACB742438}"/>
                </a:ext>
              </a:extLst>
            </p:cNvPr>
            <p:cNvSpPr/>
            <p:nvPr/>
          </p:nvSpPr>
          <p:spPr>
            <a:xfrm>
              <a:off x="533400" y="2009099"/>
              <a:ext cx="1120042" cy="419806"/>
            </a:xfrm>
            <a:prstGeom prst="roundRect">
              <a:avLst>
                <a:gd name="adj" fmla="val 0"/>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dirty="0">
                  <a:solidFill>
                    <a:schemeClr val="bg1"/>
                  </a:solidFill>
                </a:rPr>
                <a:t>FRAMEWORK</a:t>
              </a:r>
              <a:endParaRPr lang="zh-CN" altLang="en-US" dirty="0">
                <a:solidFill>
                  <a:schemeClr val="bg1"/>
                </a:solidFill>
              </a:endParaRPr>
            </a:p>
          </p:txBody>
        </p:sp>
      </p:grpSp>
      <p:sp>
        <p:nvSpPr>
          <p:cNvPr id="33" name="矩形: 圆角 32">
            <a:extLst>
              <a:ext uri="{FF2B5EF4-FFF2-40B4-BE49-F238E27FC236}">
                <a16:creationId xmlns:a16="http://schemas.microsoft.com/office/drawing/2014/main" id="{798DE6FE-8CAF-702D-A6C9-5CF107B2E667}"/>
              </a:ext>
            </a:extLst>
          </p:cNvPr>
          <p:cNvSpPr/>
          <p:nvPr/>
        </p:nvSpPr>
        <p:spPr>
          <a:xfrm>
            <a:off x="41253" y="596372"/>
            <a:ext cx="4608161" cy="2215987"/>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38" name="文本框 37">
            <a:extLst>
              <a:ext uri="{FF2B5EF4-FFF2-40B4-BE49-F238E27FC236}">
                <a16:creationId xmlns:a16="http://schemas.microsoft.com/office/drawing/2014/main" id="{7DBB1304-2764-9985-54B9-0F03711798AD}"/>
              </a:ext>
            </a:extLst>
          </p:cNvPr>
          <p:cNvSpPr txBox="1"/>
          <p:nvPr/>
        </p:nvSpPr>
        <p:spPr>
          <a:xfrm>
            <a:off x="22029" y="996477"/>
            <a:ext cx="4810257" cy="1815882"/>
          </a:xfrm>
          <a:prstGeom prst="rect">
            <a:avLst/>
          </a:prstGeom>
          <a:noFill/>
        </p:spPr>
        <p:txBody>
          <a:bodyPr wrap="square">
            <a:spAutoFit/>
          </a:bodyPr>
          <a:lstStyle/>
          <a:p>
            <a:r>
              <a:rPr lang="zh-CN" altLang="en-US" sz="1600" dirty="0"/>
              <a:t>Deep learning optimizers can achieve smaller losses in gradient descent. For example, optimizers like Adam and AdamW can stably reduce losses in deep learning through first moment, second moment, bias correction, and learning rate scheduling. So, which of these mechanisms can be decoupled from the real gradient and transferred to traditional population optimization?</a:t>
            </a:r>
          </a:p>
        </p:txBody>
      </p:sp>
      <p:sp>
        <p:nvSpPr>
          <p:cNvPr id="44" name="矩形: 圆角 43">
            <a:extLst>
              <a:ext uri="{FF2B5EF4-FFF2-40B4-BE49-F238E27FC236}">
                <a16:creationId xmlns:a16="http://schemas.microsoft.com/office/drawing/2014/main" id="{64AD0B27-FA6D-AABC-0F50-B07B88CE9BDB}"/>
              </a:ext>
            </a:extLst>
          </p:cNvPr>
          <p:cNvSpPr/>
          <p:nvPr/>
        </p:nvSpPr>
        <p:spPr>
          <a:xfrm>
            <a:off x="12049068" y="594997"/>
            <a:ext cx="6148703" cy="423742"/>
          </a:xfrm>
          <a:prstGeom prst="roundRect">
            <a:avLst>
              <a:gd name="adj" fmla="val 0"/>
            </a:avLst>
          </a:prstGeom>
          <a:solidFill>
            <a:srgbClr val="013D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CONTRIBUTION</a:t>
            </a:r>
            <a:endParaRPr lang="zh-CN" altLang="en-US" sz="2000" dirty="0">
              <a:solidFill>
                <a:schemeClr val="bg1"/>
              </a:solidFill>
            </a:endParaRPr>
          </a:p>
        </p:txBody>
      </p:sp>
      <p:sp>
        <p:nvSpPr>
          <p:cNvPr id="50" name="矩形: 圆角 49">
            <a:extLst>
              <a:ext uri="{FF2B5EF4-FFF2-40B4-BE49-F238E27FC236}">
                <a16:creationId xmlns:a16="http://schemas.microsoft.com/office/drawing/2014/main" id="{9B822124-CEAE-48E4-4546-3A0BE7130ADD}"/>
              </a:ext>
            </a:extLst>
          </p:cNvPr>
          <p:cNvSpPr/>
          <p:nvPr/>
        </p:nvSpPr>
        <p:spPr>
          <a:xfrm>
            <a:off x="12060797" y="603954"/>
            <a:ext cx="6136975" cy="2190220"/>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7" name="文本框 6">
            <a:extLst>
              <a:ext uri="{FF2B5EF4-FFF2-40B4-BE49-F238E27FC236}">
                <a16:creationId xmlns:a16="http://schemas.microsoft.com/office/drawing/2014/main" id="{AAA88D48-73F9-CFBC-3E35-365996029007}"/>
              </a:ext>
            </a:extLst>
          </p:cNvPr>
          <p:cNvSpPr txBox="1"/>
          <p:nvPr/>
        </p:nvSpPr>
        <p:spPr>
          <a:xfrm>
            <a:off x="12054312" y="1006052"/>
            <a:ext cx="6136975" cy="1754326"/>
          </a:xfrm>
          <a:prstGeom prst="rect">
            <a:avLst/>
          </a:prstGeom>
          <a:noFill/>
        </p:spPr>
        <p:txBody>
          <a:bodyPr wrap="square">
            <a:spAutoFit/>
          </a:bodyPr>
          <a:lstStyle/>
          <a:p>
            <a:pPr marL="285750" lvl="0" indent="-285750">
              <a:buFont typeface="Wingdings" panose="05000000000000000000" pitchFamily="2" charset="2"/>
              <a:buChar char="l"/>
            </a:pPr>
            <a:r>
              <a:rPr lang="zh-CN" altLang="zh-CN" sz="1200" dirty="0"/>
              <a:t>We propose ALDPGA, an Adam- and Lévy-enhanced plant growth algorithm for high-dimensional numerical optimization.</a:t>
            </a:r>
          </a:p>
          <a:p>
            <a:pPr marL="285750" lvl="0" indent="-285750">
              <a:buFont typeface="Wingdings" panose="05000000000000000000" pitchFamily="2" charset="2"/>
              <a:buChar char="l"/>
            </a:pPr>
            <a:r>
              <a:rPr lang="zh-CN" altLang="zh-CN" sz="1200" dirty="0"/>
              <a:t>We designed a pseudo-gradient learning mechanism that uses first- and second-moment estimates to stabilize search directions and adapt coordinate-wise step sizes.</a:t>
            </a:r>
          </a:p>
          <a:p>
            <a:pPr marL="285750" lvl="0" indent="-285750">
              <a:buFont typeface="Wingdings" panose="05000000000000000000" pitchFamily="2" charset="2"/>
              <a:buChar char="l"/>
            </a:pPr>
            <a:r>
              <a:rPr lang="zh-CN" altLang="zh-CN" sz="1200" dirty="0"/>
              <a:t>We developed a dynamically scheduled search strategy combining Metropolis acceptance and Lévy-flight exploration. This improves the balance between local refinement and long-range exploration.</a:t>
            </a:r>
          </a:p>
          <a:p>
            <a:pPr marL="285750" lvl="0" indent="-285750">
              <a:buFont typeface="Wingdings" panose="05000000000000000000" pitchFamily="2" charset="2"/>
              <a:buChar char="l"/>
            </a:pPr>
            <a:r>
              <a:rPr lang="zh-CN" altLang="zh-CN" sz="1200" dirty="0"/>
              <a:t>We evaluated ALDPGA on the CEC2017, CEC2020 and CEC2022 benchmarks and three engineering design problems using convergence analysis</a:t>
            </a:r>
            <a:r>
              <a:rPr lang="en-US" altLang="zh-CN" sz="1200" dirty="0"/>
              <a:t> </a:t>
            </a:r>
            <a:r>
              <a:rPr lang="zh-CN" altLang="zh-CN" sz="1200" dirty="0"/>
              <a:t>and non-parametric statistical tests</a:t>
            </a:r>
            <a:r>
              <a:rPr lang="en-US" altLang="zh-CN" sz="1200" dirty="0"/>
              <a:t>.</a:t>
            </a:r>
            <a:endParaRPr lang="zh-CN" altLang="zh-CN" sz="1200" dirty="0"/>
          </a:p>
        </p:txBody>
      </p:sp>
      <p:sp>
        <p:nvSpPr>
          <p:cNvPr id="11" name="文本框 10">
            <a:extLst>
              <a:ext uri="{FF2B5EF4-FFF2-40B4-BE49-F238E27FC236}">
                <a16:creationId xmlns:a16="http://schemas.microsoft.com/office/drawing/2014/main" id="{3DC22593-52BF-D10E-08CC-F3F54F978B64}"/>
              </a:ext>
            </a:extLst>
          </p:cNvPr>
          <p:cNvSpPr txBox="1"/>
          <p:nvPr/>
        </p:nvSpPr>
        <p:spPr>
          <a:xfrm>
            <a:off x="12021968" y="6144709"/>
            <a:ext cx="6095280" cy="1569660"/>
          </a:xfrm>
          <a:prstGeom prst="rect">
            <a:avLst/>
          </a:prstGeom>
          <a:noFill/>
        </p:spPr>
        <p:txBody>
          <a:bodyPr wrap="square">
            <a:spAutoFit/>
          </a:bodyPr>
          <a:lstStyle/>
          <a:p>
            <a:pPr marL="171450" lvl="0" indent="-171450">
              <a:buFont typeface="Wingdings" panose="05000000000000000000" pitchFamily="2" charset="2"/>
              <a:buChar char="l"/>
            </a:pPr>
            <a:r>
              <a:rPr lang="zh-CN" altLang="zh-CN" sz="1200" dirty="0"/>
              <a:t>We propose SAWG, a learning-driven population optimizer that applies AdamW-style updates to population-derived pseudo-gradients.</a:t>
            </a:r>
          </a:p>
          <a:p>
            <a:pPr marL="171450" lvl="0" indent="-171450">
              <a:buFont typeface="Wingdings" panose="05000000000000000000" pitchFamily="2" charset="2"/>
              <a:buChar char="l"/>
            </a:pPr>
            <a:r>
              <a:rPr lang="zh-CN" altLang="zh-CN" sz="1200" dirty="0"/>
              <a:t>We designed an iteration- and rank-aware global–elite guidance mechanism. This adaptively shifts the search from population-level exploration to elite-guided exploitation.</a:t>
            </a:r>
          </a:p>
          <a:p>
            <a:pPr marL="171450" lvl="0" indent="-171450">
              <a:buFont typeface="Wingdings" panose="05000000000000000000" pitchFamily="2" charset="2"/>
              <a:buChar char="l"/>
            </a:pPr>
            <a:r>
              <a:rPr lang="zh-CN" altLang="zh-CN" sz="1200" dirty="0"/>
              <a:t>We developed a decoupled adaptive update and stagnation-recovery strategy combining moment estimation, dynamic differential interaction, Lévy exploration and population restart.</a:t>
            </a:r>
          </a:p>
          <a:p>
            <a:pPr marL="171450" lvl="0" indent="-171450">
              <a:buFont typeface="Wingdings" panose="05000000000000000000" pitchFamily="2" charset="2"/>
              <a:buChar char="l"/>
            </a:pPr>
            <a:r>
              <a:rPr lang="en-US" altLang="zh-CN" sz="1200" dirty="0"/>
              <a:t>We evaluated SAWG from multiple dimensions using the CEC2017 and CEC2020 benchmark suites and eight engineering design problems.</a:t>
            </a:r>
            <a:endParaRPr lang="zh-CN" altLang="zh-CN" sz="1200" dirty="0"/>
          </a:p>
        </p:txBody>
      </p:sp>
      <p:sp>
        <p:nvSpPr>
          <p:cNvPr id="64" name="矩形: 圆角 63">
            <a:extLst>
              <a:ext uri="{FF2B5EF4-FFF2-40B4-BE49-F238E27FC236}">
                <a16:creationId xmlns:a16="http://schemas.microsoft.com/office/drawing/2014/main" id="{F1E5198A-B381-07B0-1B16-7C073F680C2D}"/>
              </a:ext>
            </a:extLst>
          </p:cNvPr>
          <p:cNvSpPr/>
          <p:nvPr/>
        </p:nvSpPr>
        <p:spPr>
          <a:xfrm>
            <a:off x="20988" y="5853751"/>
            <a:ext cx="4627212" cy="319104"/>
          </a:xfrm>
          <a:prstGeom prst="roundRect">
            <a:avLst>
              <a:gd name="adj" fmla="val 0"/>
            </a:avLst>
          </a:prstGeom>
          <a:solidFill>
            <a:srgbClr val="0185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INTRODUCTION</a:t>
            </a:r>
            <a:endParaRPr lang="zh-CN" altLang="en-US" sz="2000" dirty="0">
              <a:solidFill>
                <a:schemeClr val="bg1"/>
              </a:solidFill>
            </a:endParaRPr>
          </a:p>
        </p:txBody>
      </p:sp>
      <p:sp>
        <p:nvSpPr>
          <p:cNvPr id="68" name="矩形: 圆角 67">
            <a:extLst>
              <a:ext uri="{FF2B5EF4-FFF2-40B4-BE49-F238E27FC236}">
                <a16:creationId xmlns:a16="http://schemas.microsoft.com/office/drawing/2014/main" id="{F20238A7-27B4-7D17-AB69-54AF2F53EAA9}"/>
              </a:ext>
            </a:extLst>
          </p:cNvPr>
          <p:cNvSpPr/>
          <p:nvPr/>
        </p:nvSpPr>
        <p:spPr>
          <a:xfrm>
            <a:off x="4823616" y="5847430"/>
            <a:ext cx="7056128" cy="319105"/>
          </a:xfrm>
          <a:prstGeom prst="roundRect">
            <a:avLst>
              <a:gd name="adj" fmla="val 0"/>
            </a:avLst>
          </a:prstGeom>
          <a:solidFill>
            <a:srgbClr val="0185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MOTIVATION</a:t>
            </a:r>
            <a:endParaRPr lang="zh-CN" altLang="en-US" sz="2000" dirty="0">
              <a:solidFill>
                <a:schemeClr val="bg1"/>
              </a:solidFill>
            </a:endParaRPr>
          </a:p>
        </p:txBody>
      </p:sp>
      <p:sp>
        <p:nvSpPr>
          <p:cNvPr id="71" name="文本框 70">
            <a:extLst>
              <a:ext uri="{FF2B5EF4-FFF2-40B4-BE49-F238E27FC236}">
                <a16:creationId xmlns:a16="http://schemas.microsoft.com/office/drawing/2014/main" id="{3BA74411-313E-E77A-67B7-116351248D1A}"/>
              </a:ext>
            </a:extLst>
          </p:cNvPr>
          <p:cNvSpPr txBox="1"/>
          <p:nvPr/>
        </p:nvSpPr>
        <p:spPr>
          <a:xfrm>
            <a:off x="4764977" y="6225083"/>
            <a:ext cx="4537403" cy="1323439"/>
          </a:xfrm>
          <a:prstGeom prst="rect">
            <a:avLst/>
          </a:prstGeom>
          <a:noFill/>
        </p:spPr>
        <p:txBody>
          <a:bodyPr wrap="square">
            <a:spAutoFit/>
          </a:bodyPr>
          <a:lstStyle/>
          <a:p>
            <a:pPr>
              <a:lnSpc>
                <a:spcPct val="100000"/>
              </a:lnSpc>
            </a:pPr>
            <a:r>
              <a:rPr lang="en-US" altLang="zh-CN" sz="1600" dirty="0"/>
              <a:t>If the core value stems from optimizer states rather than botanical metaphors, is it possible to decouple them? SAWG constructs a pseudo-gradient using a blend of the global mean and elite directions, incorporating an </a:t>
            </a:r>
            <a:r>
              <a:rPr lang="en-US" altLang="zh-CN" sz="1600" dirty="0" err="1"/>
              <a:t>AdamW</a:t>
            </a:r>
            <a:r>
              <a:rPr lang="en-US" altLang="zh-CN" sz="1600" dirty="0"/>
              <a:t>-style update mechanism.</a:t>
            </a:r>
            <a:endParaRPr lang="zh-CN" altLang="en-US" sz="1600" dirty="0"/>
          </a:p>
        </p:txBody>
      </p:sp>
      <p:sp>
        <p:nvSpPr>
          <p:cNvPr id="73" name="矩形: 圆角 72">
            <a:extLst>
              <a:ext uri="{FF2B5EF4-FFF2-40B4-BE49-F238E27FC236}">
                <a16:creationId xmlns:a16="http://schemas.microsoft.com/office/drawing/2014/main" id="{D4E41F73-B2BD-B9AA-B45E-CB1D94AC4EC7}"/>
              </a:ext>
            </a:extLst>
          </p:cNvPr>
          <p:cNvSpPr/>
          <p:nvPr/>
        </p:nvSpPr>
        <p:spPr>
          <a:xfrm>
            <a:off x="4824586" y="5847767"/>
            <a:ext cx="7056129" cy="1759304"/>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75" name="矩形: 圆角 74">
            <a:extLst>
              <a:ext uri="{FF2B5EF4-FFF2-40B4-BE49-F238E27FC236}">
                <a16:creationId xmlns:a16="http://schemas.microsoft.com/office/drawing/2014/main" id="{14CFFD6E-FA02-FCC8-B9AA-EDF59B995BD5}"/>
              </a:ext>
            </a:extLst>
          </p:cNvPr>
          <p:cNvSpPr/>
          <p:nvPr/>
        </p:nvSpPr>
        <p:spPr>
          <a:xfrm>
            <a:off x="33554" y="5852396"/>
            <a:ext cx="4608161" cy="1766183"/>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78" name="文本框 77">
            <a:extLst>
              <a:ext uri="{FF2B5EF4-FFF2-40B4-BE49-F238E27FC236}">
                <a16:creationId xmlns:a16="http://schemas.microsoft.com/office/drawing/2014/main" id="{9BBF225D-947A-55D1-A01C-A967B327FF0C}"/>
              </a:ext>
            </a:extLst>
          </p:cNvPr>
          <p:cNvSpPr txBox="1"/>
          <p:nvPr/>
        </p:nvSpPr>
        <p:spPr>
          <a:xfrm>
            <a:off x="-30981" y="6079046"/>
            <a:ext cx="4639115" cy="1569660"/>
          </a:xfrm>
          <a:prstGeom prst="rect">
            <a:avLst/>
          </a:prstGeom>
          <a:noFill/>
        </p:spPr>
        <p:txBody>
          <a:bodyPr wrap="square">
            <a:spAutoFit/>
          </a:bodyPr>
          <a:lstStyle/>
          <a:p>
            <a:r>
              <a:rPr lang="en-US" altLang="zh-CN" sz="1600" dirty="0"/>
              <a:t>The continuous thread linking these two studies is the exploration of whether the state mechanisms found in gradient-based optimizers can serve population-based search methods that lack access to true gradients; PGA serves merely as the experimental vehicle for the initial phase.</a:t>
            </a:r>
            <a:endParaRPr lang="zh-CN" altLang="en-US" sz="1600" dirty="0"/>
          </a:p>
        </p:txBody>
      </p:sp>
      <p:sp>
        <p:nvSpPr>
          <p:cNvPr id="81" name="矩形: 圆角 80">
            <a:extLst>
              <a:ext uri="{FF2B5EF4-FFF2-40B4-BE49-F238E27FC236}">
                <a16:creationId xmlns:a16="http://schemas.microsoft.com/office/drawing/2014/main" id="{42DFAE46-BC31-4E19-19A5-724F5ABDD4E4}"/>
              </a:ext>
            </a:extLst>
          </p:cNvPr>
          <p:cNvSpPr/>
          <p:nvPr/>
        </p:nvSpPr>
        <p:spPr>
          <a:xfrm>
            <a:off x="12047233" y="5838897"/>
            <a:ext cx="6148703" cy="333957"/>
          </a:xfrm>
          <a:prstGeom prst="roundRect">
            <a:avLst>
              <a:gd name="adj" fmla="val 0"/>
            </a:avLst>
          </a:prstGeom>
          <a:solidFill>
            <a:srgbClr val="018594"/>
          </a:solidFill>
          <a:ln w="12700" cap="flat" cmpd="sng" algn="ctr">
            <a:solidFill>
              <a:schemeClr val="accent1">
                <a:lumMod val="20000"/>
                <a:lumOff val="80000"/>
              </a:schemeClr>
            </a:solidFill>
            <a:prstDash val="solid"/>
            <a:miter lim="800000"/>
          </a:ln>
        </p:spPr>
        <p:txBody>
          <a:bodyPr rtlCol="0" anchor="ctr"/>
          <a:lstStyle/>
          <a:p>
            <a:pPr algn="ctr"/>
            <a:r>
              <a:rPr lang="en-US" altLang="zh-CN" sz="2000" dirty="0">
                <a:solidFill>
                  <a:schemeClr val="bg1"/>
                </a:solidFill>
              </a:rPr>
              <a:t>CONTRIBUTION</a:t>
            </a:r>
            <a:endParaRPr lang="zh-CN" altLang="en-US" sz="2000" dirty="0">
              <a:solidFill>
                <a:schemeClr val="bg1"/>
              </a:solidFill>
            </a:endParaRPr>
          </a:p>
        </p:txBody>
      </p:sp>
      <p:sp>
        <p:nvSpPr>
          <p:cNvPr id="84" name="矩形: 圆角 83">
            <a:extLst>
              <a:ext uri="{FF2B5EF4-FFF2-40B4-BE49-F238E27FC236}">
                <a16:creationId xmlns:a16="http://schemas.microsoft.com/office/drawing/2014/main" id="{82D9FAE8-3863-93CB-91A3-555DEE1CE41B}"/>
              </a:ext>
            </a:extLst>
          </p:cNvPr>
          <p:cNvSpPr/>
          <p:nvPr/>
        </p:nvSpPr>
        <p:spPr>
          <a:xfrm>
            <a:off x="12053098" y="5847429"/>
            <a:ext cx="6136975" cy="1815599"/>
          </a:xfrm>
          <a:prstGeom prst="roundRect">
            <a:avLst>
              <a:gd name="adj" fmla="val 0"/>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grpSp>
        <p:nvGrpSpPr>
          <p:cNvPr id="105" name="组合 104">
            <a:extLst>
              <a:ext uri="{FF2B5EF4-FFF2-40B4-BE49-F238E27FC236}">
                <a16:creationId xmlns:a16="http://schemas.microsoft.com/office/drawing/2014/main" id="{7D48490D-03E9-4C5F-3060-9C74F5D752C5}"/>
              </a:ext>
            </a:extLst>
          </p:cNvPr>
          <p:cNvGrpSpPr/>
          <p:nvPr/>
        </p:nvGrpSpPr>
        <p:grpSpPr>
          <a:xfrm>
            <a:off x="40038" y="7678832"/>
            <a:ext cx="18150034" cy="2601393"/>
            <a:chOff x="533400" y="2016760"/>
            <a:chExt cx="3429000" cy="3355340"/>
          </a:xfrm>
        </p:grpSpPr>
        <p:sp>
          <p:nvSpPr>
            <p:cNvPr id="106" name="矩形: 圆角 105">
              <a:extLst>
                <a:ext uri="{FF2B5EF4-FFF2-40B4-BE49-F238E27FC236}">
                  <a16:creationId xmlns:a16="http://schemas.microsoft.com/office/drawing/2014/main" id="{A9E2733F-7B99-7638-4C6A-D832AB96FC87}"/>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107" name="矩形: 圆角 106">
              <a:extLst>
                <a:ext uri="{FF2B5EF4-FFF2-40B4-BE49-F238E27FC236}">
                  <a16:creationId xmlns:a16="http://schemas.microsoft.com/office/drawing/2014/main" id="{A1549D50-9365-D289-7C84-5FEF733D3163}"/>
                </a:ext>
              </a:extLst>
            </p:cNvPr>
            <p:cNvSpPr/>
            <p:nvPr/>
          </p:nvSpPr>
          <p:spPr>
            <a:xfrm>
              <a:off x="533400" y="2016760"/>
              <a:ext cx="3429000" cy="419807"/>
            </a:xfrm>
            <a:prstGeom prst="roundRect">
              <a:avLst>
                <a:gd name="adj" fmla="val 0"/>
              </a:avLst>
            </a:prstGeom>
            <a:solidFill>
              <a:srgbClr val="01A2B3"/>
            </a:solidFill>
            <a:ln w="12700" cap="flat" cmpd="sng" algn="ctr">
              <a:solidFill>
                <a:schemeClr val="accent1">
                  <a:lumMod val="20000"/>
                  <a:lumOff val="80000"/>
                </a:schemeClr>
              </a:solidFill>
              <a:prstDash val="solid"/>
              <a:miter lim="800000"/>
            </a:ln>
          </p:spPr>
          <p:txBody>
            <a:bodyPr rtlCol="0" anchor="ctr"/>
            <a:lstStyle/>
            <a:p>
              <a:pPr algn="ctr"/>
              <a:r>
                <a:rPr lang="en-US" altLang="zh-CN" dirty="0">
                  <a:solidFill>
                    <a:schemeClr val="bg1"/>
                  </a:solidFill>
                </a:rPr>
                <a:t>FRAMEWORK AND EXPERIMENT</a:t>
              </a:r>
            </a:p>
          </p:txBody>
        </p:sp>
      </p:grpSp>
      <p:sp>
        <p:nvSpPr>
          <p:cNvPr id="111" name="文本框 110">
            <a:extLst>
              <a:ext uri="{FF2B5EF4-FFF2-40B4-BE49-F238E27FC236}">
                <a16:creationId xmlns:a16="http://schemas.microsoft.com/office/drawing/2014/main" id="{9A9A1B51-117C-B068-B4BD-547EF84833C5}"/>
              </a:ext>
            </a:extLst>
          </p:cNvPr>
          <p:cNvSpPr txBox="1"/>
          <p:nvPr/>
        </p:nvSpPr>
        <p:spPr>
          <a:xfrm>
            <a:off x="22029" y="3121252"/>
            <a:ext cx="3179585" cy="523220"/>
          </a:xfrm>
          <a:prstGeom prst="rect">
            <a:avLst/>
          </a:prstGeom>
          <a:noFill/>
        </p:spPr>
        <p:txBody>
          <a:bodyPr wrap="square">
            <a:spAutoFit/>
          </a:bodyPr>
          <a:lstStyle/>
          <a:p>
            <a:r>
              <a:rPr lang="zh-CN" altLang="en-US" sz="1400" dirty="0"/>
              <a:t>We present the pseudocode, flowchart, and mechanism diagram of the algorithm.</a:t>
            </a:r>
          </a:p>
        </p:txBody>
      </p:sp>
      <p:pic>
        <p:nvPicPr>
          <p:cNvPr id="115" name="图片 114">
            <a:extLst>
              <a:ext uri="{FF2B5EF4-FFF2-40B4-BE49-F238E27FC236}">
                <a16:creationId xmlns:a16="http://schemas.microsoft.com/office/drawing/2014/main" id="{BF81C2A5-2D2C-860C-EB6F-3A77474159F1}"/>
              </a:ext>
            </a:extLst>
          </p:cNvPr>
          <p:cNvPicPr>
            <a:picLocks noChangeAspect="1"/>
          </p:cNvPicPr>
          <p:nvPr/>
        </p:nvPicPr>
        <p:blipFill>
          <a:blip r:embed="rId2"/>
          <a:stretch>
            <a:fillRect/>
          </a:stretch>
        </p:blipFill>
        <p:spPr>
          <a:xfrm>
            <a:off x="72737" y="3752194"/>
            <a:ext cx="3078168" cy="1411171"/>
          </a:xfrm>
          <a:prstGeom prst="rect">
            <a:avLst/>
          </a:prstGeom>
        </p:spPr>
      </p:pic>
      <p:sp>
        <p:nvSpPr>
          <p:cNvPr id="117" name="矩形: 圆角 116">
            <a:extLst>
              <a:ext uri="{FF2B5EF4-FFF2-40B4-BE49-F238E27FC236}">
                <a16:creationId xmlns:a16="http://schemas.microsoft.com/office/drawing/2014/main" id="{A8815F96-B7FE-D1CA-E0F6-F4ACDF7046C3}"/>
              </a:ext>
            </a:extLst>
          </p:cNvPr>
          <p:cNvSpPr/>
          <p:nvPr/>
        </p:nvSpPr>
        <p:spPr>
          <a:xfrm>
            <a:off x="5988969" y="2828547"/>
            <a:ext cx="12221542" cy="303958"/>
          </a:xfrm>
          <a:prstGeom prst="roundRect">
            <a:avLst>
              <a:gd name="adj" fmla="val 0"/>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dirty="0">
                <a:solidFill>
                  <a:schemeClr val="bg1"/>
                </a:solidFill>
              </a:rPr>
              <a:t>EXPERIMENT</a:t>
            </a:r>
            <a:endParaRPr lang="zh-CN" altLang="en-US" dirty="0">
              <a:solidFill>
                <a:schemeClr val="bg1"/>
              </a:solidFill>
            </a:endParaRPr>
          </a:p>
        </p:txBody>
      </p:sp>
      <p:pic>
        <p:nvPicPr>
          <p:cNvPr id="119" name="图片 118">
            <a:extLst>
              <a:ext uri="{FF2B5EF4-FFF2-40B4-BE49-F238E27FC236}">
                <a16:creationId xmlns:a16="http://schemas.microsoft.com/office/drawing/2014/main" id="{D15500F9-4CD2-C1DA-307D-2B9C2350163A}"/>
              </a:ext>
            </a:extLst>
          </p:cNvPr>
          <p:cNvPicPr>
            <a:picLocks noChangeAspect="1"/>
          </p:cNvPicPr>
          <p:nvPr/>
        </p:nvPicPr>
        <p:blipFill>
          <a:blip r:embed="rId3"/>
          <a:srcRect r="29291"/>
          <a:stretch>
            <a:fillRect/>
          </a:stretch>
        </p:blipFill>
        <p:spPr>
          <a:xfrm>
            <a:off x="10420209" y="3606361"/>
            <a:ext cx="3346928" cy="1453707"/>
          </a:xfrm>
          <a:prstGeom prst="rect">
            <a:avLst/>
          </a:prstGeom>
        </p:spPr>
      </p:pic>
      <p:sp>
        <p:nvSpPr>
          <p:cNvPr id="121" name="文本框 120">
            <a:extLst>
              <a:ext uri="{FF2B5EF4-FFF2-40B4-BE49-F238E27FC236}">
                <a16:creationId xmlns:a16="http://schemas.microsoft.com/office/drawing/2014/main" id="{CC35B50A-E658-B57C-D0E3-5584E2F68FF0}"/>
              </a:ext>
            </a:extLst>
          </p:cNvPr>
          <p:cNvSpPr txBox="1"/>
          <p:nvPr/>
        </p:nvSpPr>
        <p:spPr>
          <a:xfrm>
            <a:off x="10622327" y="3222502"/>
            <a:ext cx="2876939" cy="307777"/>
          </a:xfrm>
          <a:prstGeom prst="rect">
            <a:avLst/>
          </a:prstGeom>
          <a:noFill/>
        </p:spPr>
        <p:txBody>
          <a:bodyPr wrap="square">
            <a:spAutoFit/>
          </a:bodyPr>
          <a:lstStyle/>
          <a:p>
            <a:r>
              <a:rPr lang="en-US" altLang="zh-CN" sz="1400" dirty="0"/>
              <a:t>Benchmarking and statistical analysis</a:t>
            </a:r>
            <a:endParaRPr lang="zh-CN" altLang="en-US" sz="1400" dirty="0"/>
          </a:p>
        </p:txBody>
      </p:sp>
      <p:sp>
        <p:nvSpPr>
          <p:cNvPr id="1049" name="文本框 1048">
            <a:extLst>
              <a:ext uri="{FF2B5EF4-FFF2-40B4-BE49-F238E27FC236}">
                <a16:creationId xmlns:a16="http://schemas.microsoft.com/office/drawing/2014/main" id="{6C634723-276E-E836-A706-8F7BE98F7231}"/>
              </a:ext>
            </a:extLst>
          </p:cNvPr>
          <p:cNvSpPr txBox="1"/>
          <p:nvPr/>
        </p:nvSpPr>
        <p:spPr>
          <a:xfrm>
            <a:off x="7910821" y="8006277"/>
            <a:ext cx="8211963" cy="830997"/>
          </a:xfrm>
          <a:prstGeom prst="rect">
            <a:avLst/>
          </a:prstGeom>
          <a:noFill/>
        </p:spPr>
        <p:txBody>
          <a:bodyPr wrap="square">
            <a:spAutoFit/>
          </a:bodyPr>
          <a:lstStyle/>
          <a:p>
            <a:r>
              <a:rPr lang="zh-CN" altLang="en-US" sz="1200" dirty="0"/>
              <a:t>To evaluate the optimization performance of SAWG, experiments were conducted on the CEC2017 and CEC2020 benchmark suites and eight engineering optimization problems. SAWG was also compared with nine other typical and novel high-performance optimizers. Experimental results and statistical analysis show that SAWG achieved excellent optimization performance in most test tasks and competitiveness in various numerical optimization problems. </a:t>
            </a:r>
          </a:p>
        </p:txBody>
      </p:sp>
      <p:pic>
        <p:nvPicPr>
          <p:cNvPr id="9" name="图片 8">
            <a:extLst>
              <a:ext uri="{FF2B5EF4-FFF2-40B4-BE49-F238E27FC236}">
                <a16:creationId xmlns:a16="http://schemas.microsoft.com/office/drawing/2014/main" id="{79FF8FBE-00EF-B7A7-DF4D-130B25335BA6}"/>
              </a:ext>
            </a:extLst>
          </p:cNvPr>
          <p:cNvPicPr>
            <a:picLocks noChangeAspect="1"/>
          </p:cNvPicPr>
          <p:nvPr/>
        </p:nvPicPr>
        <p:blipFill>
          <a:blip r:embed="rId4"/>
          <a:stretch>
            <a:fillRect/>
          </a:stretch>
        </p:blipFill>
        <p:spPr>
          <a:xfrm>
            <a:off x="9255869" y="6592319"/>
            <a:ext cx="2328680" cy="555257"/>
          </a:xfrm>
          <a:prstGeom prst="rect">
            <a:avLst/>
          </a:prstGeom>
        </p:spPr>
      </p:pic>
      <p:pic>
        <p:nvPicPr>
          <p:cNvPr id="12" name="图片 11">
            <a:extLst>
              <a:ext uri="{FF2B5EF4-FFF2-40B4-BE49-F238E27FC236}">
                <a16:creationId xmlns:a16="http://schemas.microsoft.com/office/drawing/2014/main" id="{6E688D70-51F5-1E29-33A3-2F93A60AEC0E}"/>
              </a:ext>
            </a:extLst>
          </p:cNvPr>
          <p:cNvPicPr>
            <a:picLocks noChangeAspect="1"/>
          </p:cNvPicPr>
          <p:nvPr/>
        </p:nvPicPr>
        <p:blipFill>
          <a:blip r:embed="rId5"/>
          <a:stretch>
            <a:fillRect/>
          </a:stretch>
        </p:blipFill>
        <p:spPr>
          <a:xfrm>
            <a:off x="9654329" y="7145889"/>
            <a:ext cx="1544405" cy="450191"/>
          </a:xfrm>
          <a:prstGeom prst="rect">
            <a:avLst/>
          </a:prstGeom>
        </p:spPr>
      </p:pic>
      <p:sp>
        <p:nvSpPr>
          <p:cNvPr id="18" name="矩形: 圆角 17">
            <a:extLst>
              <a:ext uri="{FF2B5EF4-FFF2-40B4-BE49-F238E27FC236}">
                <a16:creationId xmlns:a16="http://schemas.microsoft.com/office/drawing/2014/main" id="{1EC1890C-10BD-8D55-0BE2-B473A520BFAA}"/>
              </a:ext>
            </a:extLst>
          </p:cNvPr>
          <p:cNvSpPr/>
          <p:nvPr/>
        </p:nvSpPr>
        <p:spPr>
          <a:xfrm>
            <a:off x="-20988" y="5305193"/>
            <a:ext cx="18288000" cy="526431"/>
          </a:xfrm>
          <a:prstGeom prst="roundRect">
            <a:avLst/>
          </a:prstGeom>
          <a:solidFill>
            <a:schemeClr val="accent1">
              <a:lumMod val="20000"/>
              <a:lumOff val="80000"/>
            </a:schemeClr>
          </a:solidFill>
          <a:ln w="12700" cap="flat" cmpd="sng" algn="ctr">
            <a:noFill/>
            <a:prstDash val="solid"/>
            <a:miter lim="800000"/>
          </a:ln>
        </p:spPr>
        <p:txBody>
          <a:bodyPr rtlCol="0" anchor="ctr"/>
          <a:lstStyle/>
          <a:p>
            <a:pPr algn="ctr"/>
            <a:r>
              <a:rPr lang="en-US" altLang="zh-CN" sz="2000" b="1" dirty="0"/>
              <a:t>Self-Adaptive </a:t>
            </a:r>
            <a:r>
              <a:rPr lang="en-US" altLang="zh-CN" sz="2000" b="1" dirty="0" err="1"/>
              <a:t>AdamW</a:t>
            </a:r>
            <a:r>
              <a:rPr lang="en-US" altLang="zh-CN" sz="2000" b="1" dirty="0"/>
              <a:t>-Guided Optimization: A Learning-Driven Metaheuristic for Solving Complex Real-World Engineering Problems.</a:t>
            </a:r>
          </a:p>
          <a:p>
            <a:pPr algn="ctr"/>
            <a:r>
              <a:rPr lang="en-US" altLang="zh-CN" sz="1600" dirty="0"/>
              <a:t>Yuhang Xie</a:t>
            </a:r>
            <a:r>
              <a:rPr lang="en-US" altLang="zh-CN" sz="1600" baseline="30000" dirty="0"/>
              <a:t>1</a:t>
            </a:r>
            <a:r>
              <a:rPr lang="en-US" altLang="zh-CN" sz="1600" dirty="0"/>
              <a:t>, Wei Li</a:t>
            </a:r>
            <a:r>
              <a:rPr lang="en-US" altLang="zh-CN" sz="1600" baseline="30000" dirty="0"/>
              <a:t>1</a:t>
            </a:r>
            <a:r>
              <a:rPr lang="en-US" altLang="zh-CN" sz="1600" dirty="0"/>
              <a:t>, Cheng Zhong</a:t>
            </a:r>
            <a:r>
              <a:rPr lang="en-US" altLang="zh-CN" sz="1600" baseline="30000" dirty="0"/>
              <a:t>2</a:t>
            </a:r>
            <a:r>
              <a:rPr lang="en-US" altLang="zh-CN" sz="1600" dirty="0"/>
              <a:t>, Shang Gao</a:t>
            </a:r>
            <a:r>
              <a:rPr lang="en-US" altLang="zh-CN" sz="1600" baseline="30000" dirty="0"/>
              <a:t>1</a:t>
            </a:r>
            <a:r>
              <a:rPr lang="en-US" altLang="zh-CN" sz="1600" dirty="0"/>
              <a:t>, Kai Xu</a:t>
            </a:r>
            <a:r>
              <a:rPr lang="en-US" altLang="zh-CN" sz="1600" baseline="30000" dirty="0"/>
              <a:t>1</a:t>
            </a:r>
            <a:r>
              <a:rPr lang="en-US" altLang="zh-CN" sz="1600" dirty="0"/>
              <a:t>, </a:t>
            </a:r>
            <a:r>
              <a:rPr lang="en-US" altLang="zh-CN" sz="1600" dirty="0" err="1"/>
              <a:t>Juanjuan</a:t>
            </a:r>
            <a:r>
              <a:rPr lang="en-US" altLang="zh-CN" sz="1600" dirty="0"/>
              <a:t> Tu</a:t>
            </a:r>
            <a:r>
              <a:rPr lang="en-US" altLang="zh-CN" sz="1600" baseline="30000" dirty="0"/>
              <a:t>1</a:t>
            </a:r>
            <a:r>
              <a:rPr lang="en-US" altLang="zh-CN" sz="1600" dirty="0"/>
              <a:t> and Bin Qin</a:t>
            </a:r>
            <a:r>
              <a:rPr lang="en-US" altLang="zh-CN" sz="1600" baseline="30000" dirty="0"/>
              <a:t>1</a:t>
            </a:r>
            <a:r>
              <a:rPr lang="en-US" altLang="zh-CN" sz="1600" dirty="0"/>
              <a:t>,</a:t>
            </a:r>
            <a:r>
              <a:rPr lang="en-US" altLang="zh-CN" sz="1600" baseline="30000" dirty="0"/>
              <a:t>*</a:t>
            </a:r>
            <a:r>
              <a:rPr lang="en-US" altLang="zh-CN" sz="1600" dirty="0"/>
              <a:t>; 1. School of Computer, Jiangsu University of Science and Technology; 2. PLA Army Engineering University</a:t>
            </a:r>
            <a:endParaRPr lang="zh-CN" altLang="zh-CN" sz="2400" dirty="0">
              <a:effectLst/>
            </a:endParaRPr>
          </a:p>
        </p:txBody>
      </p:sp>
      <p:pic>
        <p:nvPicPr>
          <p:cNvPr id="20" name="图片 19">
            <a:extLst>
              <a:ext uri="{FF2B5EF4-FFF2-40B4-BE49-F238E27FC236}">
                <a16:creationId xmlns:a16="http://schemas.microsoft.com/office/drawing/2014/main" id="{16F21B4F-308B-8CD8-0892-AC67069535CB}"/>
              </a:ext>
            </a:extLst>
          </p:cNvPr>
          <p:cNvPicPr>
            <a:picLocks noChangeAspect="1"/>
          </p:cNvPicPr>
          <p:nvPr/>
        </p:nvPicPr>
        <p:blipFill>
          <a:blip r:embed="rId6"/>
          <a:stretch>
            <a:fillRect/>
          </a:stretch>
        </p:blipFill>
        <p:spPr>
          <a:xfrm>
            <a:off x="9187032" y="6179790"/>
            <a:ext cx="2642487" cy="406923"/>
          </a:xfrm>
          <a:prstGeom prst="rect">
            <a:avLst/>
          </a:prstGeom>
        </p:spPr>
      </p:pic>
      <p:pic>
        <p:nvPicPr>
          <p:cNvPr id="25" name="图片 24">
            <a:extLst>
              <a:ext uri="{FF2B5EF4-FFF2-40B4-BE49-F238E27FC236}">
                <a16:creationId xmlns:a16="http://schemas.microsoft.com/office/drawing/2014/main" id="{CE1846C6-B35A-4836-6424-8551903F7C74}"/>
              </a:ext>
            </a:extLst>
          </p:cNvPr>
          <p:cNvPicPr>
            <a:picLocks noChangeAspect="1"/>
          </p:cNvPicPr>
          <p:nvPr/>
        </p:nvPicPr>
        <p:blipFill>
          <a:blip r:embed="rId7"/>
          <a:stretch>
            <a:fillRect/>
          </a:stretch>
        </p:blipFill>
        <p:spPr>
          <a:xfrm>
            <a:off x="3108051" y="3143263"/>
            <a:ext cx="2853206" cy="981274"/>
          </a:xfrm>
          <a:prstGeom prst="rect">
            <a:avLst/>
          </a:prstGeom>
        </p:spPr>
      </p:pic>
      <p:pic>
        <p:nvPicPr>
          <p:cNvPr id="27" name="图片 26">
            <a:extLst>
              <a:ext uri="{FF2B5EF4-FFF2-40B4-BE49-F238E27FC236}">
                <a16:creationId xmlns:a16="http://schemas.microsoft.com/office/drawing/2014/main" id="{54F2DA2C-0FEB-D202-7DE7-F178F8628903}"/>
              </a:ext>
            </a:extLst>
          </p:cNvPr>
          <p:cNvPicPr>
            <a:picLocks noChangeAspect="1"/>
          </p:cNvPicPr>
          <p:nvPr/>
        </p:nvPicPr>
        <p:blipFill>
          <a:blip r:embed="rId8"/>
          <a:stretch>
            <a:fillRect/>
          </a:stretch>
        </p:blipFill>
        <p:spPr>
          <a:xfrm>
            <a:off x="3108051" y="4124538"/>
            <a:ext cx="2853206" cy="1138108"/>
          </a:xfrm>
          <a:prstGeom prst="rect">
            <a:avLst/>
          </a:prstGeom>
        </p:spPr>
      </p:pic>
      <p:pic>
        <p:nvPicPr>
          <p:cNvPr id="29" name="图片 28">
            <a:extLst>
              <a:ext uri="{FF2B5EF4-FFF2-40B4-BE49-F238E27FC236}">
                <a16:creationId xmlns:a16="http://schemas.microsoft.com/office/drawing/2014/main" id="{66883C14-AED6-3AB0-19AE-A52C860A3628}"/>
              </a:ext>
            </a:extLst>
          </p:cNvPr>
          <p:cNvPicPr>
            <a:picLocks noChangeAspect="1"/>
          </p:cNvPicPr>
          <p:nvPr/>
        </p:nvPicPr>
        <p:blipFill>
          <a:blip r:embed="rId9"/>
          <a:stretch>
            <a:fillRect/>
          </a:stretch>
        </p:blipFill>
        <p:spPr>
          <a:xfrm>
            <a:off x="5715000" y="2034485"/>
            <a:ext cx="2688766" cy="750472"/>
          </a:xfrm>
          <a:prstGeom prst="rect">
            <a:avLst/>
          </a:prstGeom>
        </p:spPr>
      </p:pic>
      <p:pic>
        <p:nvPicPr>
          <p:cNvPr id="31" name="图片 30">
            <a:extLst>
              <a:ext uri="{FF2B5EF4-FFF2-40B4-BE49-F238E27FC236}">
                <a16:creationId xmlns:a16="http://schemas.microsoft.com/office/drawing/2014/main" id="{12DED47A-D6FD-67D1-1E68-D64DB5FD9EC2}"/>
              </a:ext>
            </a:extLst>
          </p:cNvPr>
          <p:cNvPicPr>
            <a:picLocks noChangeAspect="1"/>
          </p:cNvPicPr>
          <p:nvPr/>
        </p:nvPicPr>
        <p:blipFill>
          <a:blip r:embed="rId10"/>
          <a:stretch>
            <a:fillRect/>
          </a:stretch>
        </p:blipFill>
        <p:spPr>
          <a:xfrm>
            <a:off x="8475987" y="2013661"/>
            <a:ext cx="3257833" cy="735834"/>
          </a:xfrm>
          <a:prstGeom prst="rect">
            <a:avLst/>
          </a:prstGeom>
        </p:spPr>
      </p:pic>
      <p:pic>
        <p:nvPicPr>
          <p:cNvPr id="34" name="图片 33">
            <a:extLst>
              <a:ext uri="{FF2B5EF4-FFF2-40B4-BE49-F238E27FC236}">
                <a16:creationId xmlns:a16="http://schemas.microsoft.com/office/drawing/2014/main" id="{44BA4F4C-3F77-C005-63B1-C7907FD5756C}"/>
              </a:ext>
            </a:extLst>
          </p:cNvPr>
          <p:cNvPicPr>
            <a:picLocks noChangeAspect="1"/>
          </p:cNvPicPr>
          <p:nvPr/>
        </p:nvPicPr>
        <p:blipFill>
          <a:blip r:embed="rId11"/>
          <a:stretch>
            <a:fillRect/>
          </a:stretch>
        </p:blipFill>
        <p:spPr>
          <a:xfrm>
            <a:off x="16064923" y="3135053"/>
            <a:ext cx="2028487" cy="2107325"/>
          </a:xfrm>
          <a:prstGeom prst="rect">
            <a:avLst/>
          </a:prstGeom>
        </p:spPr>
      </p:pic>
      <p:pic>
        <p:nvPicPr>
          <p:cNvPr id="36" name="图片 35">
            <a:extLst>
              <a:ext uri="{FF2B5EF4-FFF2-40B4-BE49-F238E27FC236}">
                <a16:creationId xmlns:a16="http://schemas.microsoft.com/office/drawing/2014/main" id="{5573E452-9760-F610-A9FB-1A91F26D00CE}"/>
              </a:ext>
            </a:extLst>
          </p:cNvPr>
          <p:cNvPicPr>
            <a:picLocks noChangeAspect="1"/>
          </p:cNvPicPr>
          <p:nvPr/>
        </p:nvPicPr>
        <p:blipFill>
          <a:blip r:embed="rId12"/>
          <a:stretch>
            <a:fillRect/>
          </a:stretch>
        </p:blipFill>
        <p:spPr>
          <a:xfrm>
            <a:off x="13912630" y="3144053"/>
            <a:ext cx="2054416" cy="2095440"/>
          </a:xfrm>
          <a:prstGeom prst="rect">
            <a:avLst/>
          </a:prstGeom>
        </p:spPr>
      </p:pic>
      <p:pic>
        <p:nvPicPr>
          <p:cNvPr id="39" name="图片 38">
            <a:extLst>
              <a:ext uri="{FF2B5EF4-FFF2-40B4-BE49-F238E27FC236}">
                <a16:creationId xmlns:a16="http://schemas.microsoft.com/office/drawing/2014/main" id="{AC83177C-640F-4099-C553-C98356AD537F}"/>
              </a:ext>
            </a:extLst>
          </p:cNvPr>
          <p:cNvPicPr>
            <a:picLocks noChangeAspect="1"/>
          </p:cNvPicPr>
          <p:nvPr/>
        </p:nvPicPr>
        <p:blipFill>
          <a:blip r:embed="rId13"/>
          <a:stretch>
            <a:fillRect/>
          </a:stretch>
        </p:blipFill>
        <p:spPr>
          <a:xfrm>
            <a:off x="6043894" y="3162273"/>
            <a:ext cx="4328527" cy="2055869"/>
          </a:xfrm>
          <a:prstGeom prst="rect">
            <a:avLst/>
          </a:prstGeom>
        </p:spPr>
      </p:pic>
      <p:pic>
        <p:nvPicPr>
          <p:cNvPr id="41" name="图片 40">
            <a:extLst>
              <a:ext uri="{FF2B5EF4-FFF2-40B4-BE49-F238E27FC236}">
                <a16:creationId xmlns:a16="http://schemas.microsoft.com/office/drawing/2014/main" id="{BFEC2572-CCC9-87F2-7D14-369E8B611EE8}"/>
              </a:ext>
            </a:extLst>
          </p:cNvPr>
          <p:cNvPicPr>
            <a:picLocks noChangeAspect="1"/>
          </p:cNvPicPr>
          <p:nvPr/>
        </p:nvPicPr>
        <p:blipFill>
          <a:blip r:embed="rId14"/>
          <a:stretch>
            <a:fillRect/>
          </a:stretch>
        </p:blipFill>
        <p:spPr>
          <a:xfrm>
            <a:off x="2391286" y="9550637"/>
            <a:ext cx="5168455" cy="699753"/>
          </a:xfrm>
          <a:prstGeom prst="rect">
            <a:avLst/>
          </a:prstGeom>
        </p:spPr>
      </p:pic>
      <p:pic>
        <p:nvPicPr>
          <p:cNvPr id="43" name="图片 42">
            <a:extLst>
              <a:ext uri="{FF2B5EF4-FFF2-40B4-BE49-F238E27FC236}">
                <a16:creationId xmlns:a16="http://schemas.microsoft.com/office/drawing/2014/main" id="{48761CA4-42E1-B946-29CF-B61C152DF2C3}"/>
              </a:ext>
            </a:extLst>
          </p:cNvPr>
          <p:cNvPicPr>
            <a:picLocks noChangeAspect="1"/>
          </p:cNvPicPr>
          <p:nvPr/>
        </p:nvPicPr>
        <p:blipFill>
          <a:blip r:embed="rId15"/>
          <a:stretch>
            <a:fillRect/>
          </a:stretch>
        </p:blipFill>
        <p:spPr>
          <a:xfrm>
            <a:off x="2393815" y="8064561"/>
            <a:ext cx="5214590" cy="699064"/>
          </a:xfrm>
          <a:prstGeom prst="rect">
            <a:avLst/>
          </a:prstGeom>
        </p:spPr>
      </p:pic>
      <p:pic>
        <p:nvPicPr>
          <p:cNvPr id="46" name="图片 45">
            <a:extLst>
              <a:ext uri="{FF2B5EF4-FFF2-40B4-BE49-F238E27FC236}">
                <a16:creationId xmlns:a16="http://schemas.microsoft.com/office/drawing/2014/main" id="{70E68DD0-490E-AD67-942F-A8306EF96A9A}"/>
              </a:ext>
            </a:extLst>
          </p:cNvPr>
          <p:cNvPicPr>
            <a:picLocks noChangeAspect="1"/>
          </p:cNvPicPr>
          <p:nvPr/>
        </p:nvPicPr>
        <p:blipFill>
          <a:blip r:embed="rId16"/>
          <a:stretch>
            <a:fillRect/>
          </a:stretch>
        </p:blipFill>
        <p:spPr>
          <a:xfrm>
            <a:off x="2391286" y="8791662"/>
            <a:ext cx="5163359" cy="699063"/>
          </a:xfrm>
          <a:prstGeom prst="rect">
            <a:avLst/>
          </a:prstGeom>
        </p:spPr>
      </p:pic>
      <p:pic>
        <p:nvPicPr>
          <p:cNvPr id="48" name="图片 47">
            <a:extLst>
              <a:ext uri="{FF2B5EF4-FFF2-40B4-BE49-F238E27FC236}">
                <a16:creationId xmlns:a16="http://schemas.microsoft.com/office/drawing/2014/main" id="{780B68C7-7C7A-7528-A6BA-5C175FC1CA7A}"/>
              </a:ext>
            </a:extLst>
          </p:cNvPr>
          <p:cNvPicPr>
            <a:picLocks noChangeAspect="1"/>
          </p:cNvPicPr>
          <p:nvPr/>
        </p:nvPicPr>
        <p:blipFill>
          <a:blip r:embed="rId17"/>
          <a:stretch>
            <a:fillRect/>
          </a:stretch>
        </p:blipFill>
        <p:spPr>
          <a:xfrm>
            <a:off x="72737" y="8004308"/>
            <a:ext cx="2289463" cy="2284437"/>
          </a:xfrm>
          <a:prstGeom prst="rect">
            <a:avLst/>
          </a:prstGeom>
        </p:spPr>
      </p:pic>
      <p:pic>
        <p:nvPicPr>
          <p:cNvPr id="51" name="图片 50">
            <a:extLst>
              <a:ext uri="{FF2B5EF4-FFF2-40B4-BE49-F238E27FC236}">
                <a16:creationId xmlns:a16="http://schemas.microsoft.com/office/drawing/2014/main" id="{95F99133-AEDD-0401-243B-E20B3028E4BE}"/>
              </a:ext>
            </a:extLst>
          </p:cNvPr>
          <p:cNvPicPr>
            <a:picLocks noChangeAspect="1"/>
          </p:cNvPicPr>
          <p:nvPr/>
        </p:nvPicPr>
        <p:blipFill>
          <a:blip r:embed="rId18"/>
          <a:stretch>
            <a:fillRect/>
          </a:stretch>
        </p:blipFill>
        <p:spPr>
          <a:xfrm>
            <a:off x="9706332" y="8837135"/>
            <a:ext cx="2035191" cy="1408590"/>
          </a:xfrm>
          <a:prstGeom prst="rect">
            <a:avLst/>
          </a:prstGeom>
        </p:spPr>
      </p:pic>
      <p:pic>
        <p:nvPicPr>
          <p:cNvPr id="53" name="图片 52">
            <a:extLst>
              <a:ext uri="{FF2B5EF4-FFF2-40B4-BE49-F238E27FC236}">
                <a16:creationId xmlns:a16="http://schemas.microsoft.com/office/drawing/2014/main" id="{7C0AC58E-6364-6CC6-A4DC-714468C0F488}"/>
              </a:ext>
            </a:extLst>
          </p:cNvPr>
          <p:cNvPicPr>
            <a:picLocks noChangeAspect="1"/>
          </p:cNvPicPr>
          <p:nvPr/>
        </p:nvPicPr>
        <p:blipFill>
          <a:blip r:embed="rId19"/>
          <a:stretch>
            <a:fillRect/>
          </a:stretch>
        </p:blipFill>
        <p:spPr>
          <a:xfrm>
            <a:off x="7647074" y="8843133"/>
            <a:ext cx="2026525" cy="1402592"/>
          </a:xfrm>
          <a:prstGeom prst="rect">
            <a:avLst/>
          </a:prstGeom>
        </p:spPr>
      </p:pic>
      <p:pic>
        <p:nvPicPr>
          <p:cNvPr id="55" name="图片 54">
            <a:extLst>
              <a:ext uri="{FF2B5EF4-FFF2-40B4-BE49-F238E27FC236}">
                <a16:creationId xmlns:a16="http://schemas.microsoft.com/office/drawing/2014/main" id="{822FF599-1C7A-FB34-26E2-13CFD2B055B1}"/>
              </a:ext>
            </a:extLst>
          </p:cNvPr>
          <p:cNvPicPr>
            <a:picLocks noChangeAspect="1"/>
          </p:cNvPicPr>
          <p:nvPr/>
        </p:nvPicPr>
        <p:blipFill>
          <a:blip r:embed="rId20"/>
          <a:stretch>
            <a:fillRect/>
          </a:stretch>
        </p:blipFill>
        <p:spPr>
          <a:xfrm>
            <a:off x="11825286" y="8845300"/>
            <a:ext cx="2087344" cy="1383427"/>
          </a:xfrm>
          <a:prstGeom prst="rect">
            <a:avLst/>
          </a:prstGeom>
        </p:spPr>
      </p:pic>
      <p:pic>
        <p:nvPicPr>
          <p:cNvPr id="57" name="图片 56">
            <a:extLst>
              <a:ext uri="{FF2B5EF4-FFF2-40B4-BE49-F238E27FC236}">
                <a16:creationId xmlns:a16="http://schemas.microsoft.com/office/drawing/2014/main" id="{755E9270-2C88-9952-C799-A777DC14C8A4}"/>
              </a:ext>
            </a:extLst>
          </p:cNvPr>
          <p:cNvPicPr>
            <a:picLocks noChangeAspect="1"/>
          </p:cNvPicPr>
          <p:nvPr/>
        </p:nvPicPr>
        <p:blipFill>
          <a:blip r:embed="rId21"/>
          <a:stretch>
            <a:fillRect/>
          </a:stretch>
        </p:blipFill>
        <p:spPr>
          <a:xfrm>
            <a:off x="13941655" y="8632778"/>
            <a:ext cx="2062660" cy="812824"/>
          </a:xfrm>
          <a:prstGeom prst="rect">
            <a:avLst/>
          </a:prstGeom>
        </p:spPr>
      </p:pic>
      <p:pic>
        <p:nvPicPr>
          <p:cNvPr id="59" name="图片 58">
            <a:extLst>
              <a:ext uri="{FF2B5EF4-FFF2-40B4-BE49-F238E27FC236}">
                <a16:creationId xmlns:a16="http://schemas.microsoft.com/office/drawing/2014/main" id="{273B9E94-2ED7-B424-7714-A1DE3F21C0C0}"/>
              </a:ext>
            </a:extLst>
          </p:cNvPr>
          <p:cNvPicPr>
            <a:picLocks noChangeAspect="1"/>
          </p:cNvPicPr>
          <p:nvPr/>
        </p:nvPicPr>
        <p:blipFill>
          <a:blip r:embed="rId22"/>
          <a:stretch>
            <a:fillRect/>
          </a:stretch>
        </p:blipFill>
        <p:spPr>
          <a:xfrm>
            <a:off x="13927144" y="9432902"/>
            <a:ext cx="2077172" cy="818542"/>
          </a:xfrm>
          <a:prstGeom prst="rect">
            <a:avLst/>
          </a:prstGeom>
        </p:spPr>
      </p:pic>
      <p:pic>
        <p:nvPicPr>
          <p:cNvPr id="62" name="图片 61">
            <a:extLst>
              <a:ext uri="{FF2B5EF4-FFF2-40B4-BE49-F238E27FC236}">
                <a16:creationId xmlns:a16="http://schemas.microsoft.com/office/drawing/2014/main" id="{BF413187-575B-BA63-D012-5F2EF2A0E4EB}"/>
              </a:ext>
            </a:extLst>
          </p:cNvPr>
          <p:cNvPicPr>
            <a:picLocks noChangeAspect="1"/>
          </p:cNvPicPr>
          <p:nvPr/>
        </p:nvPicPr>
        <p:blipFill>
          <a:blip r:embed="rId23"/>
          <a:stretch>
            <a:fillRect/>
          </a:stretch>
        </p:blipFill>
        <p:spPr>
          <a:xfrm>
            <a:off x="16150273" y="8052475"/>
            <a:ext cx="1857785" cy="1140529"/>
          </a:xfrm>
          <a:prstGeom prst="rect">
            <a:avLst/>
          </a:prstGeom>
        </p:spPr>
      </p:pic>
      <p:pic>
        <p:nvPicPr>
          <p:cNvPr id="65" name="图片 64">
            <a:extLst>
              <a:ext uri="{FF2B5EF4-FFF2-40B4-BE49-F238E27FC236}">
                <a16:creationId xmlns:a16="http://schemas.microsoft.com/office/drawing/2014/main" id="{230566DA-9DFA-F391-1CD7-C82C174CACE9}"/>
              </a:ext>
            </a:extLst>
          </p:cNvPr>
          <p:cNvPicPr>
            <a:picLocks noChangeAspect="1"/>
          </p:cNvPicPr>
          <p:nvPr/>
        </p:nvPicPr>
        <p:blipFill>
          <a:blip r:embed="rId24"/>
          <a:stretch>
            <a:fillRect/>
          </a:stretch>
        </p:blipFill>
        <p:spPr>
          <a:xfrm>
            <a:off x="16018826" y="9226721"/>
            <a:ext cx="2126618" cy="1043079"/>
          </a:xfrm>
          <a:prstGeom prst="rect">
            <a:avLst/>
          </a:prstGeom>
        </p:spPr>
      </p:pic>
      <p:pic>
        <p:nvPicPr>
          <p:cNvPr id="3" name="图片 2">
            <a:extLst>
              <a:ext uri="{FF2B5EF4-FFF2-40B4-BE49-F238E27FC236}">
                <a16:creationId xmlns:a16="http://schemas.microsoft.com/office/drawing/2014/main" id="{82B929EC-4DF5-12D4-0396-F045B67E201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5909" y="299"/>
            <a:ext cx="762000" cy="587963"/>
          </a:xfrm>
          <a:prstGeom prst="rect">
            <a:avLst/>
          </a:prstGeom>
        </p:spPr>
      </p:pic>
      <p:grpSp>
        <p:nvGrpSpPr>
          <p:cNvPr id="4" name="组合 3">
            <a:extLst>
              <a:ext uri="{FF2B5EF4-FFF2-40B4-BE49-F238E27FC236}">
                <a16:creationId xmlns:a16="http://schemas.microsoft.com/office/drawing/2014/main" id="{007A10EF-8923-387D-F9EA-DBCB35FE87D9}"/>
              </a:ext>
            </a:extLst>
          </p:cNvPr>
          <p:cNvGrpSpPr/>
          <p:nvPr/>
        </p:nvGrpSpPr>
        <p:grpSpPr>
          <a:xfrm>
            <a:off x="616371" y="-26455"/>
            <a:ext cx="2209800" cy="419418"/>
            <a:chOff x="2806099" y="747572"/>
            <a:chExt cx="2817754" cy="366138"/>
          </a:xfrm>
        </p:grpSpPr>
        <p:sp>
          <p:nvSpPr>
            <p:cNvPr id="6" name="文本框 5">
              <a:extLst>
                <a:ext uri="{FF2B5EF4-FFF2-40B4-BE49-F238E27FC236}">
                  <a16:creationId xmlns:a16="http://schemas.microsoft.com/office/drawing/2014/main" id="{8CC0703B-1AE5-F46A-A5DC-BFD66938C835}"/>
                </a:ext>
              </a:extLst>
            </p:cNvPr>
            <p:cNvSpPr txBox="1"/>
            <p:nvPr/>
          </p:nvSpPr>
          <p:spPr>
            <a:xfrm>
              <a:off x="3312337" y="747572"/>
              <a:ext cx="1805277" cy="295546"/>
            </a:xfrm>
            <a:prstGeom prst="rect">
              <a:avLst/>
            </a:prstGeom>
            <a:noFill/>
          </p:spPr>
          <p:txBody>
            <a:bodyPr wrap="none" rtlCol="0">
              <a:spAutoFit/>
            </a:bodyPr>
            <a:lstStyle>
              <a:defPPr>
                <a:defRPr lang="en-US"/>
              </a:defPPr>
              <a:lvl1pPr>
                <a:defRPr sz="4400">
                  <a:solidFill>
                    <a:schemeClr val="bg1"/>
                  </a:solidFill>
                  <a:latin typeface="叶根友毛笔行书简体" panose="02010601030101010101" pitchFamily="2" charset="-122"/>
                  <a:ea typeface="叶根友毛笔行书简体" panose="02010601030101010101" pitchFamily="2" charset="-122"/>
                </a:defRPr>
              </a:lvl1pPr>
            </a:lstStyle>
            <a:p>
              <a:r>
                <a:rPr lang="zh-CN" altLang="en-US" sz="1600" dirty="0">
                  <a:solidFill>
                    <a:schemeClr val="tx1"/>
                  </a:solidFill>
                  <a:latin typeface="三极行楷简体-粗" panose="00000500000000000000" charset="-122"/>
                  <a:ea typeface="三极行楷简体-粗" panose="00000500000000000000" charset="-122"/>
                  <a:cs typeface="三极行楷简体-粗" panose="00000500000000000000" charset="-122"/>
                </a:rPr>
                <a:t>江苏科技大学</a:t>
              </a:r>
            </a:p>
          </p:txBody>
        </p:sp>
        <p:sp>
          <p:nvSpPr>
            <p:cNvPr id="10" name="TextBox 17">
              <a:extLst>
                <a:ext uri="{FF2B5EF4-FFF2-40B4-BE49-F238E27FC236}">
                  <a16:creationId xmlns:a16="http://schemas.microsoft.com/office/drawing/2014/main" id="{BEA57C7F-7158-600F-0711-39E34136E94C}"/>
                </a:ext>
              </a:extLst>
            </p:cNvPr>
            <p:cNvSpPr txBox="1"/>
            <p:nvPr/>
          </p:nvSpPr>
          <p:spPr>
            <a:xfrm>
              <a:off x="2806099" y="925634"/>
              <a:ext cx="2817754" cy="188076"/>
            </a:xfrm>
            <a:prstGeom prst="rect">
              <a:avLst/>
            </a:prstGeom>
            <a:noFill/>
          </p:spPr>
          <p:txBody>
            <a:bodyPr wrap="square" rtlCol="0">
              <a:spAutoFit/>
            </a:bodyPr>
            <a:lstStyle>
              <a:defPPr>
                <a:defRPr lang="en-US"/>
              </a:defPPr>
              <a:lvl1pPr>
                <a:defRPr sz="4400">
                  <a:solidFill>
                    <a:schemeClr val="bg1"/>
                  </a:solidFill>
                  <a:latin typeface="叶根友毛笔行书简体" panose="02010601030101010101" pitchFamily="2" charset="-122"/>
                  <a:ea typeface="叶根友毛笔行书简体" panose="02010601030101010101" pitchFamily="2" charset="-122"/>
                </a:defRPr>
              </a:lvl1pPr>
            </a:lstStyle>
            <a:p>
              <a:r>
                <a:rPr lang="en-US" altLang="zh-CN" sz="800" b="1" dirty="0">
                  <a:solidFill>
                    <a:schemeClr val="tx1"/>
                  </a:solidFill>
                  <a:latin typeface="Times New Roman" panose="02020603050405020304" pitchFamily="18" charset="0"/>
                  <a:ea typeface="思源宋体 CN Medium" panose="02020500000000000000" charset="-122"/>
                  <a:cs typeface="Times New Roman" panose="02020603050405020304" pitchFamily="18" charset="0"/>
                </a:rPr>
                <a:t>Jiangsu University of Science and Technology</a:t>
              </a:r>
              <a:endParaRPr lang="en-US" sz="800" dirty="0">
                <a:solidFill>
                  <a:schemeClr val="tx1"/>
                </a:solidFill>
                <a:latin typeface="Times New Roman" panose="02020603050405020304" pitchFamily="18" charset="0"/>
                <a:ea typeface="思源宋体 CN Medium" panose="02020500000000000000" charset="-122"/>
                <a:cs typeface="Times New Roman" panose="02020603050405020304" pitchFamily="18" charset="0"/>
              </a:endParaRPr>
            </a:p>
          </p:txBody>
        </p:sp>
      </p:grpSp>
    </p:spTree>
    <p:extLst>
      <p:ext uri="{BB962C8B-B14F-4D97-AF65-F5344CB8AC3E}">
        <p14:creationId xmlns:p14="http://schemas.microsoft.com/office/powerpoint/2010/main" val="2029032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98219764-3810-4D79-E580-884D72723138}"/>
              </a:ext>
            </a:extLst>
          </p:cNvPr>
          <p:cNvSpPr/>
          <p:nvPr/>
        </p:nvSpPr>
        <p:spPr>
          <a:xfrm>
            <a:off x="0" y="-10886"/>
            <a:ext cx="18288000" cy="642348"/>
          </a:xfrm>
          <a:prstGeom prst="roundRect">
            <a:avLst/>
          </a:prstGeom>
          <a:solidFill>
            <a:schemeClr val="accent1">
              <a:lumMod val="20000"/>
              <a:lumOff val="80000"/>
            </a:schemeClr>
          </a:solidFill>
          <a:ln w="12700" cap="flat" cmpd="sng" algn="ctr">
            <a:noFill/>
            <a:prstDash val="solid"/>
            <a:miter lim="800000"/>
          </a:ln>
        </p:spPr>
        <p:txBody>
          <a:bodyPr rtlCol="0" anchor="ctr"/>
          <a:lstStyle/>
          <a:p>
            <a:pPr algn="ctr"/>
            <a:r>
              <a:rPr lang="en-US" altLang="zh-CN" sz="2800" dirty="0"/>
              <a:t>  </a:t>
            </a:r>
            <a:r>
              <a:rPr lang="en-US" altLang="zh-CN" sz="2400" b="1" dirty="0"/>
              <a:t>Fractional-Order Memory and Elite-Center-Guided Sine–Cosine Optimization for Feature Selection</a:t>
            </a:r>
          </a:p>
          <a:p>
            <a:pPr algn="ctr"/>
            <a:r>
              <a:rPr lang="en-US" altLang="zh-CN" b="1" dirty="0"/>
              <a:t>Yuhang Xie,</a:t>
            </a:r>
            <a:r>
              <a:rPr lang="zh-CN" altLang="en-US" b="1" dirty="0"/>
              <a:t> </a:t>
            </a:r>
            <a:r>
              <a:rPr lang="en-US" altLang="zh-CN" dirty="0"/>
              <a:t>Wei Li, Bin Qin, Kai Xu, and </a:t>
            </a:r>
            <a:r>
              <a:rPr lang="en-US" altLang="zh-CN" b="1" dirty="0"/>
              <a:t>Shang Gao*.</a:t>
            </a:r>
            <a:r>
              <a:rPr lang="zh-CN" altLang="en-US" b="1" dirty="0"/>
              <a:t> </a:t>
            </a:r>
            <a:r>
              <a:rPr lang="en-US" altLang="zh-CN" dirty="0"/>
              <a:t>School of </a:t>
            </a:r>
            <a:r>
              <a:rPr lang="en-US" altLang="zh-CN"/>
              <a:t>Computer, Jiangsu </a:t>
            </a:r>
            <a:r>
              <a:rPr lang="en-US" altLang="zh-CN" dirty="0"/>
              <a:t>University of Science and Technology, Zhenjiang 212003, China.</a:t>
            </a:r>
            <a:endParaRPr lang="zh-CN" altLang="en-US" sz="2800" dirty="0"/>
          </a:p>
        </p:txBody>
      </p:sp>
      <p:grpSp>
        <p:nvGrpSpPr>
          <p:cNvPr id="6" name="组合 5">
            <a:extLst>
              <a:ext uri="{FF2B5EF4-FFF2-40B4-BE49-F238E27FC236}">
                <a16:creationId xmlns:a16="http://schemas.microsoft.com/office/drawing/2014/main" id="{A65FE0CE-FDBD-C3D2-D87B-0D20B546CF45}"/>
              </a:ext>
            </a:extLst>
          </p:cNvPr>
          <p:cNvGrpSpPr/>
          <p:nvPr/>
        </p:nvGrpSpPr>
        <p:grpSpPr>
          <a:xfrm>
            <a:off x="76200" y="660400"/>
            <a:ext cx="3429000" cy="3365027"/>
            <a:chOff x="533400" y="2016760"/>
            <a:chExt cx="3429000" cy="3355340"/>
          </a:xfrm>
        </p:grpSpPr>
        <p:sp>
          <p:nvSpPr>
            <p:cNvPr id="5" name="矩形: 圆角 4">
              <a:extLst>
                <a:ext uri="{FF2B5EF4-FFF2-40B4-BE49-F238E27FC236}">
                  <a16:creationId xmlns:a16="http://schemas.microsoft.com/office/drawing/2014/main" id="{9736EDE1-80EB-07AF-84BD-65B7A768B6D6}"/>
                </a:ext>
              </a:extLst>
            </p:cNvPr>
            <p:cNvSpPr/>
            <p:nvPr/>
          </p:nvSpPr>
          <p:spPr>
            <a:xfrm>
              <a:off x="533400" y="2016760"/>
              <a:ext cx="3429000" cy="304800"/>
            </a:xfrm>
            <a:prstGeom prst="roundRect">
              <a:avLst>
                <a:gd name="adj" fmla="val 31458"/>
              </a:avLst>
            </a:prstGeom>
            <a:solidFill>
              <a:srgbClr val="013D94"/>
            </a:solidFill>
            <a:ln w="12700" cap="flat" cmpd="sng" algn="ctr">
              <a:solidFill>
                <a:schemeClr val="accent1">
                  <a:lumMod val="20000"/>
                  <a:lumOff val="80000"/>
                </a:schemeClr>
              </a:solidFill>
              <a:prstDash val="solid"/>
              <a:miter lim="800000"/>
            </a:ln>
          </p:spPr>
          <p:txBody>
            <a:bodyPr rtlCol="0" anchor="ctr"/>
            <a:lstStyle/>
            <a:p>
              <a:pPr algn="ctr"/>
              <a:r>
                <a:rPr lang="zh-CN" altLang="en-US" sz="1600" dirty="0">
                  <a:solidFill>
                    <a:schemeClr val="bg1"/>
                  </a:solidFill>
                </a:rPr>
                <a:t>研究背景</a:t>
              </a:r>
            </a:p>
          </p:txBody>
        </p:sp>
        <p:sp>
          <p:nvSpPr>
            <p:cNvPr id="3" name="矩形: 圆角 2">
              <a:extLst>
                <a:ext uri="{FF2B5EF4-FFF2-40B4-BE49-F238E27FC236}">
                  <a16:creationId xmlns:a16="http://schemas.microsoft.com/office/drawing/2014/main" id="{A4635F68-1553-B804-1862-D31F2FF99EC0}"/>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grpSp>
      <p:sp>
        <p:nvSpPr>
          <p:cNvPr id="8" name="文本框 7">
            <a:extLst>
              <a:ext uri="{FF2B5EF4-FFF2-40B4-BE49-F238E27FC236}">
                <a16:creationId xmlns:a16="http://schemas.microsoft.com/office/drawing/2014/main" id="{133A5E74-1775-8675-4749-4B8BB2E8E50D}"/>
              </a:ext>
            </a:extLst>
          </p:cNvPr>
          <p:cNvSpPr txBox="1"/>
          <p:nvPr/>
        </p:nvSpPr>
        <p:spPr>
          <a:xfrm>
            <a:off x="50800" y="977900"/>
            <a:ext cx="3428999" cy="1015663"/>
          </a:xfrm>
          <a:prstGeom prst="rect">
            <a:avLst/>
          </a:prstGeom>
          <a:noFill/>
        </p:spPr>
        <p:txBody>
          <a:bodyPr wrap="square">
            <a:spAutoFit/>
          </a:bodyPr>
          <a:lstStyle/>
          <a:p>
            <a:pPr>
              <a:lnSpc>
                <a:spcPts val="1800"/>
              </a:lnSpc>
            </a:pPr>
            <a:r>
              <a:rPr lang="zh-CN" altLang="en-US" sz="1400" dirty="0"/>
              <a:t>在高维数据中，通常包含一些无关冗余特征，基于包裹法的特征选择问题中，连续优化算法做离散化后容易出现搜索方向不稳定、特征位反复翻转的情况</a:t>
            </a:r>
            <a:r>
              <a:rPr lang="zh-CN" altLang="en-US" sz="1600" dirty="0"/>
              <a:t>。</a:t>
            </a:r>
          </a:p>
        </p:txBody>
      </p:sp>
      <p:sp>
        <p:nvSpPr>
          <p:cNvPr id="10" name="矩形: 圆角 9">
            <a:extLst>
              <a:ext uri="{FF2B5EF4-FFF2-40B4-BE49-F238E27FC236}">
                <a16:creationId xmlns:a16="http://schemas.microsoft.com/office/drawing/2014/main" id="{D286F3A1-1A37-FC6A-3E07-54CB75E6AF55}"/>
              </a:ext>
            </a:extLst>
          </p:cNvPr>
          <p:cNvSpPr/>
          <p:nvPr/>
        </p:nvSpPr>
        <p:spPr>
          <a:xfrm>
            <a:off x="83820" y="1956327"/>
            <a:ext cx="3429000" cy="304800"/>
          </a:xfrm>
          <a:prstGeom prst="roundRect">
            <a:avLst>
              <a:gd name="adj" fmla="val 18333"/>
            </a:avLst>
          </a:prstGeom>
          <a:solidFill>
            <a:srgbClr val="013D94"/>
          </a:solidFill>
          <a:ln w="12700" cap="flat" cmpd="sng" algn="ctr">
            <a:noFill/>
            <a:prstDash val="solid"/>
            <a:miter lim="800000"/>
          </a:ln>
        </p:spPr>
        <p:txBody>
          <a:bodyPr rtlCol="0" anchor="ctr"/>
          <a:lstStyle/>
          <a:p>
            <a:pPr algn="ctr"/>
            <a:r>
              <a:rPr lang="en-US" altLang="zh-CN" sz="1600" dirty="0">
                <a:solidFill>
                  <a:schemeClr val="bg1"/>
                </a:solidFill>
              </a:rPr>
              <a:t>MOTIVATION</a:t>
            </a:r>
            <a:endParaRPr lang="zh-CN" altLang="en-US" sz="1600" dirty="0">
              <a:solidFill>
                <a:schemeClr val="bg1"/>
              </a:solidFill>
            </a:endParaRPr>
          </a:p>
        </p:txBody>
      </p:sp>
      <p:sp>
        <p:nvSpPr>
          <p:cNvPr id="12" name="文本框 11">
            <a:extLst>
              <a:ext uri="{FF2B5EF4-FFF2-40B4-BE49-F238E27FC236}">
                <a16:creationId xmlns:a16="http://schemas.microsoft.com/office/drawing/2014/main" id="{001735E8-F607-1D93-3E39-A8C690FFF341}"/>
              </a:ext>
            </a:extLst>
          </p:cNvPr>
          <p:cNvSpPr txBox="1"/>
          <p:nvPr/>
        </p:nvSpPr>
        <p:spPr>
          <a:xfrm>
            <a:off x="71120" y="2266114"/>
            <a:ext cx="3403599" cy="1754326"/>
          </a:xfrm>
          <a:prstGeom prst="rect">
            <a:avLst/>
          </a:prstGeom>
          <a:noFill/>
        </p:spPr>
        <p:txBody>
          <a:bodyPr wrap="square">
            <a:spAutoFit/>
          </a:bodyPr>
          <a:lstStyle/>
          <a:p>
            <a:pPr>
              <a:spcBef>
                <a:spcPts val="600"/>
              </a:spcBef>
            </a:pPr>
            <a:r>
              <a:rPr lang="zh-CN" altLang="zh-CN" sz="1400" dirty="0"/>
              <a:t>基于SCA</a:t>
            </a:r>
            <a:r>
              <a:rPr lang="zh-CN" altLang="en-US" sz="1400" dirty="0"/>
              <a:t>：</a:t>
            </a:r>
            <a:r>
              <a:rPr lang="zh-CN" altLang="zh-CN" sz="1400" dirty="0"/>
              <a:t>结构简单，离散特征选择时依赖单一最优解</a:t>
            </a:r>
            <a:r>
              <a:rPr lang="zh-CN" altLang="en-US" sz="1400" dirty="0"/>
              <a:t>。</a:t>
            </a:r>
            <a:endParaRPr lang="en-US" altLang="zh-CN" sz="1400" dirty="0"/>
          </a:p>
          <a:p>
            <a:pPr>
              <a:spcBef>
                <a:spcPts val="600"/>
              </a:spcBef>
            </a:pPr>
            <a:r>
              <a:rPr lang="zh-CN" altLang="en-US" sz="1400" dirty="0"/>
              <a:t>研究目标：在使用统一的分类器与二值化基础上，利用有限的评估预算，找到</a:t>
            </a:r>
            <a:r>
              <a:rPr lang="zh-CN" altLang="zh-CN" sz="1400" dirty="0"/>
              <a:t>分类性能与特征稀疏性更均衡的特征子集</a:t>
            </a:r>
            <a:r>
              <a:rPr lang="zh-CN" altLang="en-US" sz="1400" dirty="0"/>
              <a:t>。</a:t>
            </a:r>
            <a:endParaRPr lang="en-US" altLang="zh-CN" sz="1400" dirty="0"/>
          </a:p>
          <a:p>
            <a:pPr>
              <a:spcBef>
                <a:spcPts val="600"/>
              </a:spcBef>
            </a:pPr>
            <a:r>
              <a:rPr lang="zh-CN" altLang="en-US" sz="1400" dirty="0"/>
              <a:t>问题分解：搜索个体“从哪里出发、朝哪里搜索、移动多大”。</a:t>
            </a:r>
            <a:endParaRPr lang="en-US" altLang="zh-CN" sz="1400" dirty="0"/>
          </a:p>
        </p:txBody>
      </p:sp>
      <p:grpSp>
        <p:nvGrpSpPr>
          <p:cNvPr id="13" name="组合 12">
            <a:extLst>
              <a:ext uri="{FF2B5EF4-FFF2-40B4-BE49-F238E27FC236}">
                <a16:creationId xmlns:a16="http://schemas.microsoft.com/office/drawing/2014/main" id="{E11B62D8-8BB2-67B4-6F42-4E2268B9AE5F}"/>
              </a:ext>
            </a:extLst>
          </p:cNvPr>
          <p:cNvGrpSpPr/>
          <p:nvPr/>
        </p:nvGrpSpPr>
        <p:grpSpPr>
          <a:xfrm>
            <a:off x="3718560" y="660400"/>
            <a:ext cx="4358640" cy="3367576"/>
            <a:chOff x="533400" y="2016760"/>
            <a:chExt cx="3429000" cy="3355340"/>
          </a:xfrm>
        </p:grpSpPr>
        <p:sp>
          <p:nvSpPr>
            <p:cNvPr id="14" name="矩形: 圆角 13">
              <a:extLst>
                <a:ext uri="{FF2B5EF4-FFF2-40B4-BE49-F238E27FC236}">
                  <a16:creationId xmlns:a16="http://schemas.microsoft.com/office/drawing/2014/main" id="{3CBCDE13-5AB1-651D-835D-53070A3A9D22}"/>
                </a:ext>
              </a:extLst>
            </p:cNvPr>
            <p:cNvSpPr/>
            <p:nvPr/>
          </p:nvSpPr>
          <p:spPr>
            <a:xfrm>
              <a:off x="533400" y="2016760"/>
              <a:ext cx="3429000" cy="304800"/>
            </a:xfrm>
            <a:prstGeom prst="roundRect">
              <a:avLst>
                <a:gd name="adj" fmla="val 31458"/>
              </a:avLst>
            </a:prstGeom>
            <a:solidFill>
              <a:srgbClr val="013D94"/>
            </a:solidFill>
            <a:ln w="12700" cap="flat" cmpd="sng" algn="ctr">
              <a:solidFill>
                <a:schemeClr val="accent1">
                  <a:lumMod val="20000"/>
                  <a:lumOff val="80000"/>
                </a:schemeClr>
              </a:solidFill>
              <a:prstDash val="solid"/>
              <a:miter lim="800000"/>
            </a:ln>
          </p:spPr>
          <p:txBody>
            <a:bodyPr rtlCol="0" anchor="ctr"/>
            <a:lstStyle/>
            <a:p>
              <a:pPr algn="ctr"/>
              <a:r>
                <a:rPr lang="zh-CN" altLang="en-US" sz="1600" dirty="0">
                  <a:solidFill>
                    <a:schemeClr val="bg1"/>
                  </a:solidFill>
                </a:rPr>
                <a:t>已有研究</a:t>
              </a:r>
            </a:p>
          </p:txBody>
        </p:sp>
        <p:sp>
          <p:nvSpPr>
            <p:cNvPr id="15" name="矩形: 圆角 14">
              <a:extLst>
                <a:ext uri="{FF2B5EF4-FFF2-40B4-BE49-F238E27FC236}">
                  <a16:creationId xmlns:a16="http://schemas.microsoft.com/office/drawing/2014/main" id="{95B37A93-CA81-6F81-F69C-94BA2A811102}"/>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grpSp>
      <p:sp>
        <p:nvSpPr>
          <p:cNvPr id="16" name="文本框 15">
            <a:extLst>
              <a:ext uri="{FF2B5EF4-FFF2-40B4-BE49-F238E27FC236}">
                <a16:creationId xmlns:a16="http://schemas.microsoft.com/office/drawing/2014/main" id="{3836CCC4-ADDB-A108-E6C3-01A4AE73B4BC}"/>
              </a:ext>
            </a:extLst>
          </p:cNvPr>
          <p:cNvSpPr txBox="1"/>
          <p:nvPr/>
        </p:nvSpPr>
        <p:spPr>
          <a:xfrm>
            <a:off x="3693160" y="977900"/>
            <a:ext cx="4536440" cy="892552"/>
          </a:xfrm>
          <a:prstGeom prst="rect">
            <a:avLst/>
          </a:prstGeom>
          <a:noFill/>
        </p:spPr>
        <p:txBody>
          <a:bodyPr wrap="square">
            <a:spAutoFit/>
          </a:bodyPr>
          <a:lstStyle/>
          <a:p>
            <a:pPr>
              <a:spcBef>
                <a:spcPts val="600"/>
              </a:spcBef>
            </a:pPr>
            <a:r>
              <a:rPr lang="zh-CN" altLang="en-US" sz="1400" dirty="0"/>
              <a:t>定义连续分数，提出连续函数选 </a:t>
            </a:r>
            <a:r>
              <a:rPr lang="en-US" altLang="zh-CN" sz="1400" dirty="0"/>
              <a:t>/ </a:t>
            </a:r>
            <a:r>
              <a:rPr lang="zh-CN" altLang="en-US" sz="1400" dirty="0"/>
              <a:t>不选？</a:t>
            </a:r>
            <a:endParaRPr lang="en-US" altLang="zh-CN" sz="1400" dirty="0"/>
          </a:p>
          <a:p>
            <a:pPr>
              <a:spcBef>
                <a:spcPts val="600"/>
              </a:spcBef>
            </a:pPr>
            <a:r>
              <a:rPr lang="zh-CN" altLang="en-US" sz="1400" dirty="0"/>
              <a:t>反向学习、邻域搜索、变异和折射学习，</a:t>
            </a:r>
            <a:r>
              <a:rPr lang="zh-CN" altLang="zh-CN" sz="1400" dirty="0"/>
              <a:t>记忆引导策略</a:t>
            </a:r>
            <a:endParaRPr lang="en-US" altLang="zh-CN" sz="1400" dirty="0"/>
          </a:p>
          <a:p>
            <a:pPr>
              <a:spcBef>
                <a:spcPts val="600"/>
              </a:spcBef>
            </a:pPr>
            <a:r>
              <a:rPr lang="zh-CN" altLang="zh-CN" sz="1400" dirty="0"/>
              <a:t>时间变化的转换函数</a:t>
            </a:r>
            <a:r>
              <a:rPr lang="zh-CN" altLang="en-US" sz="1400" dirty="0"/>
              <a:t>、</a:t>
            </a:r>
            <a:r>
              <a:rPr lang="zh-CN" altLang="zh-CN" sz="1400" dirty="0"/>
              <a:t>便宜的代理模型</a:t>
            </a:r>
            <a:r>
              <a:rPr lang="zh-CN" altLang="en-US" sz="1400" dirty="0"/>
              <a:t>、</a:t>
            </a:r>
            <a:r>
              <a:rPr lang="zh-CN" altLang="zh-CN" sz="1400" dirty="0"/>
              <a:t>多目标优化</a:t>
            </a:r>
            <a:r>
              <a:rPr lang="zh-CN" altLang="en-US" sz="1400" dirty="0"/>
              <a:t>。</a:t>
            </a:r>
            <a:endParaRPr lang="en-US" altLang="zh-CN" sz="1400" dirty="0"/>
          </a:p>
        </p:txBody>
      </p:sp>
      <p:sp>
        <p:nvSpPr>
          <p:cNvPr id="17" name="矩形: 圆角 16">
            <a:extLst>
              <a:ext uri="{FF2B5EF4-FFF2-40B4-BE49-F238E27FC236}">
                <a16:creationId xmlns:a16="http://schemas.microsoft.com/office/drawing/2014/main" id="{02CB9DA1-182C-A718-83B3-942784A41D7D}"/>
              </a:ext>
            </a:extLst>
          </p:cNvPr>
          <p:cNvSpPr/>
          <p:nvPr/>
        </p:nvSpPr>
        <p:spPr>
          <a:xfrm>
            <a:off x="3718560" y="1956327"/>
            <a:ext cx="4358640" cy="314492"/>
          </a:xfrm>
          <a:prstGeom prst="roundRect">
            <a:avLst>
              <a:gd name="adj" fmla="val 18333"/>
            </a:avLst>
          </a:prstGeom>
          <a:solidFill>
            <a:srgbClr val="013D94"/>
          </a:solidFill>
          <a:ln w="12700" cap="flat" cmpd="sng" algn="ctr">
            <a:noFill/>
            <a:prstDash val="solid"/>
            <a:miter lim="800000"/>
          </a:ln>
        </p:spPr>
        <p:txBody>
          <a:bodyPr rtlCol="0" anchor="ctr"/>
          <a:lstStyle/>
          <a:p>
            <a:pPr algn="ctr"/>
            <a:r>
              <a:rPr lang="en-US" altLang="zh-CN" sz="1600" dirty="0">
                <a:solidFill>
                  <a:schemeClr val="bg1"/>
                </a:solidFill>
              </a:rPr>
              <a:t>Wrapper-base </a:t>
            </a:r>
            <a:r>
              <a:rPr lang="zh-CN" altLang="en-US" sz="1600" dirty="0">
                <a:solidFill>
                  <a:schemeClr val="bg1"/>
                </a:solidFill>
              </a:rPr>
              <a:t>通用性？</a:t>
            </a:r>
          </a:p>
        </p:txBody>
      </p:sp>
      <p:sp>
        <p:nvSpPr>
          <p:cNvPr id="20" name="文本框 19">
            <a:extLst>
              <a:ext uri="{FF2B5EF4-FFF2-40B4-BE49-F238E27FC236}">
                <a16:creationId xmlns:a16="http://schemas.microsoft.com/office/drawing/2014/main" id="{E047B2D5-4B0A-55B3-8770-DC726D655C89}"/>
              </a:ext>
            </a:extLst>
          </p:cNvPr>
          <p:cNvSpPr txBox="1"/>
          <p:nvPr/>
        </p:nvSpPr>
        <p:spPr>
          <a:xfrm>
            <a:off x="3709469" y="2319901"/>
            <a:ext cx="4384040" cy="1677382"/>
          </a:xfrm>
          <a:prstGeom prst="rect">
            <a:avLst/>
          </a:prstGeom>
          <a:noFill/>
        </p:spPr>
        <p:txBody>
          <a:bodyPr wrap="square">
            <a:spAutoFit/>
          </a:bodyPr>
          <a:lstStyle/>
          <a:p>
            <a:pPr>
              <a:spcBef>
                <a:spcPts val="600"/>
              </a:spcBef>
            </a:pPr>
            <a:r>
              <a:rPr lang="zh-CN" altLang="en-US" sz="1400" dirty="0"/>
              <a:t>数据集单一，记忆引导</a:t>
            </a:r>
            <a:r>
              <a:rPr lang="zh-CN" altLang="zh-CN" sz="1400" dirty="0"/>
              <a:t>受到Attention的影响</a:t>
            </a:r>
            <a:r>
              <a:rPr lang="zh-CN" altLang="en-US" sz="1400" dirty="0"/>
              <a:t>。</a:t>
            </a:r>
            <a:endParaRPr lang="en-US" altLang="zh-CN" sz="1400" dirty="0"/>
          </a:p>
          <a:p>
            <a:pPr>
              <a:spcBef>
                <a:spcPts val="600"/>
              </a:spcBef>
            </a:pPr>
            <a:r>
              <a:rPr lang="zh-CN" altLang="zh-CN" sz="1400" dirty="0"/>
              <a:t>停止步骤需要根据不同的数据集来调试，对数据集的依赖性强，可以属于超超参数</a:t>
            </a:r>
            <a:r>
              <a:rPr lang="zh-CN" altLang="en-US" sz="1400" dirty="0"/>
              <a:t>。</a:t>
            </a:r>
            <a:endParaRPr lang="en-US" altLang="zh-CN" sz="1400" dirty="0"/>
          </a:p>
          <a:p>
            <a:pPr>
              <a:spcBef>
                <a:spcPts val="600"/>
              </a:spcBef>
            </a:pPr>
            <a:r>
              <a:rPr lang="zh-CN" altLang="en-US" sz="1400" dirty="0"/>
              <a:t>代理模型判断易错；多目标最后需要人为</a:t>
            </a:r>
            <a:r>
              <a:rPr lang="zh-CN" altLang="zh-CN" sz="1400" dirty="0"/>
              <a:t>维护多个候选方案需要更多计算</a:t>
            </a:r>
            <a:r>
              <a:rPr lang="zh-CN" altLang="en-US" sz="1400" dirty="0"/>
              <a:t>。</a:t>
            </a:r>
            <a:endParaRPr lang="en-US" altLang="zh-CN" sz="1400" dirty="0"/>
          </a:p>
          <a:p>
            <a:pPr>
              <a:spcBef>
                <a:spcPts val="600"/>
              </a:spcBef>
            </a:pPr>
            <a:r>
              <a:rPr lang="zh-CN" altLang="en-US" sz="1400" dirty="0"/>
              <a:t>核心：</a:t>
            </a:r>
            <a:r>
              <a:rPr lang="zh-CN" altLang="zh-CN" sz="1400" dirty="0"/>
              <a:t>不改变分类器</a:t>
            </a:r>
            <a:r>
              <a:rPr lang="zh-CN" altLang="en-US" sz="1400" dirty="0"/>
              <a:t>而是提供搜索方案。</a:t>
            </a:r>
            <a:endParaRPr lang="en-US" altLang="zh-CN" sz="1400" dirty="0"/>
          </a:p>
        </p:txBody>
      </p:sp>
      <p:grpSp>
        <p:nvGrpSpPr>
          <p:cNvPr id="21" name="组合 20">
            <a:extLst>
              <a:ext uri="{FF2B5EF4-FFF2-40B4-BE49-F238E27FC236}">
                <a16:creationId xmlns:a16="http://schemas.microsoft.com/office/drawing/2014/main" id="{4BD71A33-ADE7-CFB6-D40F-ECAC18060276}"/>
              </a:ext>
            </a:extLst>
          </p:cNvPr>
          <p:cNvGrpSpPr/>
          <p:nvPr/>
        </p:nvGrpSpPr>
        <p:grpSpPr>
          <a:xfrm>
            <a:off x="8177348" y="2679700"/>
            <a:ext cx="9997440" cy="7607300"/>
            <a:chOff x="533400" y="2016760"/>
            <a:chExt cx="3429000" cy="3355340"/>
          </a:xfrm>
        </p:grpSpPr>
        <p:sp>
          <p:nvSpPr>
            <p:cNvPr id="23" name="矩形: 圆角 22">
              <a:extLst>
                <a:ext uri="{FF2B5EF4-FFF2-40B4-BE49-F238E27FC236}">
                  <a16:creationId xmlns:a16="http://schemas.microsoft.com/office/drawing/2014/main" id="{CFED1779-96C2-362F-CEAE-B064DAB67973}"/>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22" name="矩形: 圆角 21">
              <a:extLst>
                <a:ext uri="{FF2B5EF4-FFF2-40B4-BE49-F238E27FC236}">
                  <a16:creationId xmlns:a16="http://schemas.microsoft.com/office/drawing/2014/main" id="{31955EE6-81ED-240B-90C0-E7590EF1334C}"/>
                </a:ext>
              </a:extLst>
            </p:cNvPr>
            <p:cNvSpPr/>
            <p:nvPr/>
          </p:nvSpPr>
          <p:spPr>
            <a:xfrm>
              <a:off x="533400" y="2016760"/>
              <a:ext cx="3429000" cy="152287"/>
            </a:xfrm>
            <a:prstGeom prst="roundRect">
              <a:avLst>
                <a:gd name="adj" fmla="val 35136"/>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dirty="0">
                  <a:solidFill>
                    <a:schemeClr val="bg1"/>
                  </a:solidFill>
                </a:rPr>
                <a:t>FRAMEWORK</a:t>
              </a:r>
              <a:endParaRPr lang="zh-CN" altLang="en-US" dirty="0">
                <a:solidFill>
                  <a:schemeClr val="bg1"/>
                </a:solidFill>
              </a:endParaRPr>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903D475-9897-CEE0-E2A5-95739B37BCAD}"/>
                  </a:ext>
                </a:extLst>
              </p:cNvPr>
              <p:cNvSpPr txBox="1"/>
              <p:nvPr/>
            </p:nvSpPr>
            <p:spPr>
              <a:xfrm>
                <a:off x="8168257" y="2997200"/>
                <a:ext cx="10006531" cy="7351371"/>
              </a:xfrm>
              <a:prstGeom prst="rect">
                <a:avLst/>
              </a:prstGeom>
              <a:noFill/>
            </p:spPr>
            <p:txBody>
              <a:bodyPr wrap="square">
                <a:spAutoFit/>
              </a:bodyPr>
              <a:lstStyle/>
              <a:p>
                <a:pPr>
                  <a:spcBef>
                    <a:spcPts val="600"/>
                  </a:spcBef>
                </a:pPr>
                <a:r>
                  <a:rPr lang="zh-CN" altLang="en-US" sz="1400" dirty="0"/>
                  <a:t>标准</a:t>
                </a:r>
                <a:r>
                  <a:rPr lang="en-US" altLang="zh-CN" sz="1400" dirty="0"/>
                  <a:t>SCA</a:t>
                </a:r>
                <a:r>
                  <a:rPr lang="zh-CN" altLang="en-US" sz="1400" dirty="0"/>
                  <a:t>：</a:t>
                </a:r>
                <a:endParaRPr lang="en-US" altLang="zh-CN" sz="1400" dirty="0"/>
              </a:p>
              <a:p>
                <a:pPr>
                  <a:spcBef>
                    <a:spcPts val="600"/>
                  </a:spcBef>
                </a:pPr>
                <a:endParaRPr lang="en-US" altLang="zh-CN" sz="1400" dirty="0"/>
              </a:p>
              <a:p>
                <a:pPr>
                  <a:spcBef>
                    <a:spcPts val="600"/>
                  </a:spcBef>
                </a:pPr>
                <a:br>
                  <a:rPr lang="en-US" altLang="zh-CN" sz="1400" dirty="0"/>
                </a:br>
                <a:endParaRPr lang="en-US" altLang="zh-CN" sz="1400" dirty="0"/>
              </a:p>
              <a:p>
                <a:pPr>
                  <a:spcBef>
                    <a:spcPts val="600"/>
                  </a:spcBef>
                </a:pPr>
                <a:r>
                  <a:rPr lang="zh-CN" altLang="en-US" sz="1400" dirty="0"/>
                  <a:t>第一，构建了短期分数阶记忆，避免每次只根据当前状态更新。</a:t>
                </a: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zh-CN" altLang="en-US" sz="1400" dirty="0"/>
              </a:p>
              <a:p>
                <a:pPr>
                  <a:spcBef>
                    <a:spcPts val="600"/>
                  </a:spcBef>
                </a:pPr>
                <a:r>
                  <a:rPr lang="zh-CN" altLang="en-US" sz="1400" dirty="0"/>
                  <a:t>第二，动态精英引导。由多个优秀解加权提供方向，避免过早依赖单一最优解，</a:t>
                </a:r>
                <a:endParaRPr lang="en-US" altLang="zh-CN" sz="1400" dirty="0"/>
              </a:p>
              <a:p>
                <a:pPr>
                  <a:spcBef>
                    <a:spcPts val="600"/>
                  </a:spcBef>
                </a:pPr>
                <a:r>
                  <a:rPr lang="zh-CN" altLang="en-US" sz="1400" dirty="0"/>
                  <a:t>后期再逐渐收缩到全局最优。</a:t>
                </a: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zh-CN" altLang="en-US" sz="1400" dirty="0"/>
              </a:p>
              <a:p>
                <a:pPr>
                  <a:spcBef>
                    <a:spcPts val="600"/>
                  </a:spcBef>
                </a:pPr>
                <a:r>
                  <a:rPr lang="zh-CN" altLang="en-US" sz="1400" dirty="0"/>
                  <a:t>第三，构建了一个 </a:t>
                </a:r>
                <a14:m>
                  <m:oMath xmlns:m="http://schemas.openxmlformats.org/officeDocument/2006/math">
                    <m:r>
                      <a:rPr lang="en-US" altLang="zh-CN" sz="1400" i="1" dirty="0" smtClean="0">
                        <a:latin typeface="Cambria Math" panose="02040503050406030204" pitchFamily="18" charset="0"/>
                      </a:rPr>
                      <m:t>𝛼</m:t>
                    </m:r>
                  </m:oMath>
                </a14:m>
                <a:r>
                  <a:rPr lang="zh-CN" altLang="en-US" sz="1400" dirty="0"/>
                  <a:t>耦合的快衰减幅度，让搜索更快衰减，减少后期无效扰动。</a:t>
                </a:r>
                <a:endParaRPr lang="en-US" altLang="zh-CN" sz="1400" dirty="0"/>
              </a:p>
              <a:p>
                <a:pPr>
                  <a:spcBef>
                    <a:spcPts val="600"/>
                  </a:spcBef>
                </a:pPr>
                <a:r>
                  <a:rPr lang="zh-CN" altLang="en-US" sz="1400" dirty="0"/>
                  <a:t>（其他研究已经证明的可行性，非核心的创新，消融实验中也做了这个变体）。</a:t>
                </a: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endParaRPr lang="en-US" altLang="zh-CN" sz="1400" dirty="0"/>
              </a:p>
              <a:p>
                <a:pPr>
                  <a:spcBef>
                    <a:spcPts val="600"/>
                  </a:spcBef>
                </a:pPr>
                <a:r>
                  <a:rPr lang="zh-CN" altLang="en-US" sz="1400" dirty="0"/>
                  <a:t>特征通过 </a:t>
                </a:r>
                <a:r>
                  <a:rPr lang="en-US" altLang="zh-CN" sz="1400" dirty="0"/>
                  <a:t>0.5 </a:t>
                </a:r>
                <a:r>
                  <a:rPr lang="zh-CN" altLang="en-US" sz="1400" dirty="0"/>
                  <a:t>阈值二值化，目标函数为：</a:t>
                </a:r>
                <a14:m>
                  <m:oMath xmlns:m="http://schemas.openxmlformats.org/officeDocument/2006/math">
                    <m:r>
                      <a:rPr lang="en-US" altLang="zh-CN" sz="1400" i="1" dirty="0" smtClean="0">
                        <a:latin typeface="Cambria Math" panose="02040503050406030204" pitchFamily="18" charset="0"/>
                      </a:rPr>
                      <m:t>𝑓</m:t>
                    </m:r>
                    <m:r>
                      <a:rPr lang="en-US" altLang="zh-CN" sz="1400" i="0" dirty="0">
                        <a:latin typeface="Cambria Math" panose="02040503050406030204" pitchFamily="18" charset="0"/>
                      </a:rPr>
                      <m:t>=0.99 </m:t>
                    </m:r>
                    <m:sSub>
                      <m:sSubPr>
                        <m:ctrlPr>
                          <a:rPr lang="en-US" altLang="zh-CN" sz="1400" i="0" dirty="0">
                            <a:latin typeface="Cambria Math" panose="02040503050406030204" pitchFamily="18" charset="0"/>
                          </a:rPr>
                        </m:ctrlPr>
                      </m:sSubPr>
                      <m:e>
                        <m:r>
                          <m:rPr>
                            <m:sty m:val="p"/>
                          </m:rPr>
                          <a:rPr lang="en-US" altLang="zh-CN" sz="1400" i="0" dirty="0">
                            <a:latin typeface="Cambria Math" panose="02040503050406030204" pitchFamily="18" charset="0"/>
                          </a:rPr>
                          <m:t>MCE</m:t>
                        </m:r>
                      </m:e>
                      <m:sub>
                        <m:r>
                          <a:rPr lang="en-US" altLang="zh-CN" sz="1400" i="1" dirty="0">
                            <a:latin typeface="Cambria Math" panose="02040503050406030204" pitchFamily="18" charset="0"/>
                          </a:rPr>
                          <m:t>𝐶𝑉</m:t>
                        </m:r>
                      </m:sub>
                    </m:sSub>
                    <m:r>
                      <a:rPr lang="en-US" altLang="zh-CN" sz="1400" i="0" dirty="0">
                        <a:latin typeface="Cambria Math" panose="02040503050406030204" pitchFamily="18" charset="0"/>
                      </a:rPr>
                      <m:t>+0.01</m:t>
                    </m:r>
                    <m:f>
                      <m:fPr>
                        <m:ctrlPr>
                          <a:rPr lang="en-US" altLang="zh-CN" sz="1400" i="1" dirty="0">
                            <a:latin typeface="Cambria Math" panose="02040503050406030204" pitchFamily="18" charset="0"/>
                          </a:rPr>
                        </m:ctrlPr>
                      </m:fPr>
                      <m:num>
                        <m:d>
                          <m:dPr>
                            <m:begChr m:val="|"/>
                            <m:endChr m:val="|"/>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𝑆</m:t>
                            </m:r>
                          </m:e>
                        </m:d>
                      </m:num>
                      <m:den>
                        <m:r>
                          <a:rPr lang="en-US" altLang="zh-CN" sz="1400" i="1" dirty="0">
                            <a:latin typeface="Cambria Math" panose="02040503050406030204" pitchFamily="18" charset="0"/>
                          </a:rPr>
                          <m:t>𝐷</m:t>
                        </m:r>
                      </m:den>
                    </m:f>
                    <m:r>
                      <a:rPr lang="en-US" altLang="zh-CN" sz="1400" i="0" dirty="0">
                        <a:latin typeface="Cambria Math" panose="02040503050406030204" pitchFamily="18" charset="0"/>
                      </a:rPr>
                      <m:t>.</m:t>
                    </m:r>
                  </m:oMath>
                </a14:m>
                <a:endParaRPr lang="en-US" altLang="zh-CN" sz="1400" dirty="0"/>
              </a:p>
            </p:txBody>
          </p:sp>
        </mc:Choice>
        <mc:Fallback xmlns="">
          <p:sp>
            <p:nvSpPr>
              <p:cNvPr id="24" name="文本框 23">
                <a:extLst>
                  <a:ext uri="{FF2B5EF4-FFF2-40B4-BE49-F238E27FC236}">
                    <a16:creationId xmlns:a16="http://schemas.microsoft.com/office/drawing/2014/main" id="{B903D475-9897-CEE0-E2A5-95739B37BCAD}"/>
                  </a:ext>
                </a:extLst>
              </p:cNvPr>
              <p:cNvSpPr txBox="1">
                <a:spLocks noRot="1" noChangeAspect="1" noMove="1" noResize="1" noEditPoints="1" noAdjustHandles="1" noChangeArrowheads="1" noChangeShapeType="1" noTextEdit="1"/>
              </p:cNvSpPr>
              <p:nvPr/>
            </p:nvSpPr>
            <p:spPr>
              <a:xfrm>
                <a:off x="8168257" y="2997200"/>
                <a:ext cx="10006531" cy="7351371"/>
              </a:xfrm>
              <a:prstGeom prst="rect">
                <a:avLst/>
              </a:prstGeom>
              <a:blipFill>
                <a:blip r:embed="rId2"/>
                <a:stretch>
                  <a:fillRect l="-183" t="-166"/>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F6508C24-B3DA-6CEC-94AE-460F356A089C}"/>
              </a:ext>
            </a:extLst>
          </p:cNvPr>
          <p:cNvGrpSpPr/>
          <p:nvPr/>
        </p:nvGrpSpPr>
        <p:grpSpPr>
          <a:xfrm>
            <a:off x="91441" y="4148307"/>
            <a:ext cx="7985759" cy="6138693"/>
            <a:chOff x="533400" y="2016760"/>
            <a:chExt cx="3429000" cy="3355340"/>
          </a:xfrm>
        </p:grpSpPr>
        <p:sp>
          <p:nvSpPr>
            <p:cNvPr id="35" name="矩形: 圆角 34">
              <a:extLst>
                <a:ext uri="{FF2B5EF4-FFF2-40B4-BE49-F238E27FC236}">
                  <a16:creationId xmlns:a16="http://schemas.microsoft.com/office/drawing/2014/main" id="{426BEBEB-A474-80CC-5C33-1DDA7AEE8898}"/>
                </a:ext>
              </a:extLst>
            </p:cNvPr>
            <p:cNvSpPr/>
            <p:nvPr/>
          </p:nvSpPr>
          <p:spPr>
            <a:xfrm>
              <a:off x="533400" y="2016760"/>
              <a:ext cx="3429000" cy="210761"/>
            </a:xfrm>
            <a:prstGeom prst="roundRect">
              <a:avLst>
                <a:gd name="adj" fmla="val 23651"/>
              </a:avLst>
            </a:prstGeom>
            <a:solidFill>
              <a:srgbClr val="018594"/>
            </a:solidFill>
            <a:ln w="12700" cap="flat" cmpd="sng" algn="ctr">
              <a:noFill/>
              <a:prstDash val="solid"/>
              <a:miter lim="800000"/>
            </a:ln>
          </p:spPr>
          <p:txBody>
            <a:bodyPr rtlCol="0" anchor="ctr"/>
            <a:lstStyle/>
            <a:p>
              <a:pPr algn="ctr"/>
              <a:r>
                <a:rPr lang="zh-CN" altLang="en-US" sz="1600" dirty="0">
                  <a:solidFill>
                    <a:schemeClr val="bg1"/>
                  </a:solidFill>
                </a:rPr>
                <a:t>实验结论</a:t>
              </a:r>
            </a:p>
          </p:txBody>
        </p:sp>
        <p:sp>
          <p:nvSpPr>
            <p:cNvPr id="36" name="矩形: 圆角 35">
              <a:extLst>
                <a:ext uri="{FF2B5EF4-FFF2-40B4-BE49-F238E27FC236}">
                  <a16:creationId xmlns:a16="http://schemas.microsoft.com/office/drawing/2014/main" id="{2C01BC22-8ADA-FBF8-F405-16929617534E}"/>
                </a:ext>
              </a:extLst>
            </p:cNvPr>
            <p:cNvSpPr/>
            <p:nvPr/>
          </p:nvSpPr>
          <p:spPr>
            <a:xfrm>
              <a:off x="533400" y="2019300"/>
              <a:ext cx="3429000" cy="3352800"/>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grpSp>
      <p:pic>
        <p:nvPicPr>
          <p:cNvPr id="40" name="图片 39">
            <a:extLst>
              <a:ext uri="{FF2B5EF4-FFF2-40B4-BE49-F238E27FC236}">
                <a16:creationId xmlns:a16="http://schemas.microsoft.com/office/drawing/2014/main" id="{168936EF-0A01-1A43-68D5-C95F347DC375}"/>
              </a:ext>
            </a:extLst>
          </p:cNvPr>
          <p:cNvPicPr>
            <a:picLocks noChangeAspect="1"/>
          </p:cNvPicPr>
          <p:nvPr/>
        </p:nvPicPr>
        <p:blipFill>
          <a:blip r:embed="rId3"/>
          <a:stretch>
            <a:fillRect/>
          </a:stretch>
        </p:blipFill>
        <p:spPr>
          <a:xfrm>
            <a:off x="14419223" y="7865793"/>
            <a:ext cx="3615713" cy="2421207"/>
          </a:xfrm>
          <a:prstGeom prst="rect">
            <a:avLst/>
          </a:prstGeom>
        </p:spPr>
      </p:pic>
      <p:pic>
        <p:nvPicPr>
          <p:cNvPr id="43" name="图片 42">
            <a:extLst>
              <a:ext uri="{FF2B5EF4-FFF2-40B4-BE49-F238E27FC236}">
                <a16:creationId xmlns:a16="http://schemas.microsoft.com/office/drawing/2014/main" id="{064DDCAF-6CE2-43C3-A1D7-04B60D1AAB78}"/>
              </a:ext>
            </a:extLst>
          </p:cNvPr>
          <p:cNvPicPr>
            <a:picLocks noChangeAspect="1"/>
          </p:cNvPicPr>
          <p:nvPr/>
        </p:nvPicPr>
        <p:blipFill>
          <a:blip r:embed="rId4"/>
          <a:stretch>
            <a:fillRect/>
          </a:stretch>
        </p:blipFill>
        <p:spPr>
          <a:xfrm>
            <a:off x="8543108" y="3284846"/>
            <a:ext cx="3527697" cy="662780"/>
          </a:xfrm>
          <a:prstGeom prst="rect">
            <a:avLst/>
          </a:prstGeom>
        </p:spPr>
      </p:pic>
      <p:pic>
        <p:nvPicPr>
          <p:cNvPr id="45" name="图片 44">
            <a:extLst>
              <a:ext uri="{FF2B5EF4-FFF2-40B4-BE49-F238E27FC236}">
                <a16:creationId xmlns:a16="http://schemas.microsoft.com/office/drawing/2014/main" id="{4AB2992F-8190-A1D0-B94A-ED869E431776}"/>
              </a:ext>
            </a:extLst>
          </p:cNvPr>
          <p:cNvPicPr>
            <a:picLocks noChangeAspect="1"/>
          </p:cNvPicPr>
          <p:nvPr/>
        </p:nvPicPr>
        <p:blipFill>
          <a:blip r:embed="rId5"/>
          <a:stretch>
            <a:fillRect/>
          </a:stretch>
        </p:blipFill>
        <p:spPr>
          <a:xfrm>
            <a:off x="8543108" y="4356342"/>
            <a:ext cx="5493979" cy="1339878"/>
          </a:xfrm>
          <a:prstGeom prst="rect">
            <a:avLst/>
          </a:prstGeom>
        </p:spPr>
      </p:pic>
      <p:grpSp>
        <p:nvGrpSpPr>
          <p:cNvPr id="52" name="组合 51">
            <a:extLst>
              <a:ext uri="{FF2B5EF4-FFF2-40B4-BE49-F238E27FC236}">
                <a16:creationId xmlns:a16="http://schemas.microsoft.com/office/drawing/2014/main" id="{CC6ACFF3-BC23-FD2E-6DA9-1A897127C544}"/>
              </a:ext>
            </a:extLst>
          </p:cNvPr>
          <p:cNvGrpSpPr/>
          <p:nvPr/>
        </p:nvGrpSpPr>
        <p:grpSpPr>
          <a:xfrm>
            <a:off x="8543108" y="6362212"/>
            <a:ext cx="4567164" cy="909863"/>
            <a:chOff x="8656320" y="4342912"/>
            <a:chExt cx="4567164" cy="909863"/>
          </a:xfrm>
        </p:grpSpPr>
        <p:pic>
          <p:nvPicPr>
            <p:cNvPr id="47" name="图片 46">
              <a:extLst>
                <a:ext uri="{FF2B5EF4-FFF2-40B4-BE49-F238E27FC236}">
                  <a16:creationId xmlns:a16="http://schemas.microsoft.com/office/drawing/2014/main" id="{C1FB0693-5E14-262D-1E5D-9429EB05FA44}"/>
                </a:ext>
              </a:extLst>
            </p:cNvPr>
            <p:cNvPicPr>
              <a:picLocks noChangeAspect="1"/>
            </p:cNvPicPr>
            <p:nvPr/>
          </p:nvPicPr>
          <p:blipFill>
            <a:blip r:embed="rId6"/>
            <a:stretch>
              <a:fillRect/>
            </a:stretch>
          </p:blipFill>
          <p:spPr>
            <a:xfrm>
              <a:off x="8656320" y="4342912"/>
              <a:ext cx="4567164" cy="407701"/>
            </a:xfrm>
            <a:prstGeom prst="rect">
              <a:avLst/>
            </a:prstGeom>
          </p:spPr>
        </p:pic>
        <p:pic>
          <p:nvPicPr>
            <p:cNvPr id="49" name="图片 48">
              <a:extLst>
                <a:ext uri="{FF2B5EF4-FFF2-40B4-BE49-F238E27FC236}">
                  <a16:creationId xmlns:a16="http://schemas.microsoft.com/office/drawing/2014/main" id="{96DD3B36-5E69-B5D1-D2B9-779FEDFEA3E8}"/>
                </a:ext>
              </a:extLst>
            </p:cNvPr>
            <p:cNvPicPr>
              <a:picLocks noChangeAspect="1"/>
            </p:cNvPicPr>
            <p:nvPr/>
          </p:nvPicPr>
          <p:blipFill>
            <a:blip r:embed="rId7"/>
            <a:stretch>
              <a:fillRect/>
            </a:stretch>
          </p:blipFill>
          <p:spPr>
            <a:xfrm>
              <a:off x="8656320" y="4686300"/>
              <a:ext cx="3199130" cy="566475"/>
            </a:xfrm>
            <a:prstGeom prst="rect">
              <a:avLst/>
            </a:prstGeom>
          </p:spPr>
        </p:pic>
        <p:pic>
          <p:nvPicPr>
            <p:cNvPr id="51" name="图片 50">
              <a:extLst>
                <a:ext uri="{FF2B5EF4-FFF2-40B4-BE49-F238E27FC236}">
                  <a16:creationId xmlns:a16="http://schemas.microsoft.com/office/drawing/2014/main" id="{31A5E5D4-7381-046D-0B3B-2E116F7FDFE2}"/>
                </a:ext>
              </a:extLst>
            </p:cNvPr>
            <p:cNvPicPr>
              <a:picLocks noChangeAspect="1"/>
            </p:cNvPicPr>
            <p:nvPr/>
          </p:nvPicPr>
          <p:blipFill>
            <a:blip r:embed="rId8"/>
            <a:stretch>
              <a:fillRect/>
            </a:stretch>
          </p:blipFill>
          <p:spPr>
            <a:xfrm>
              <a:off x="11179702" y="4757180"/>
              <a:ext cx="880017" cy="462520"/>
            </a:xfrm>
            <a:prstGeom prst="rect">
              <a:avLst/>
            </a:prstGeom>
          </p:spPr>
        </p:pic>
      </p:grpSp>
      <p:grpSp>
        <p:nvGrpSpPr>
          <p:cNvPr id="59" name="组合 58">
            <a:extLst>
              <a:ext uri="{FF2B5EF4-FFF2-40B4-BE49-F238E27FC236}">
                <a16:creationId xmlns:a16="http://schemas.microsoft.com/office/drawing/2014/main" id="{CAC272DD-26E0-DD12-08AC-E54C5D1C7520}"/>
              </a:ext>
            </a:extLst>
          </p:cNvPr>
          <p:cNvGrpSpPr/>
          <p:nvPr/>
        </p:nvGrpSpPr>
        <p:grpSpPr>
          <a:xfrm>
            <a:off x="8515034" y="7937562"/>
            <a:ext cx="5493979" cy="1829337"/>
            <a:chOff x="8656320" y="6439162"/>
            <a:chExt cx="5493979" cy="1829337"/>
          </a:xfrm>
        </p:grpSpPr>
        <p:pic>
          <p:nvPicPr>
            <p:cNvPr id="54" name="图片 53">
              <a:extLst>
                <a:ext uri="{FF2B5EF4-FFF2-40B4-BE49-F238E27FC236}">
                  <a16:creationId xmlns:a16="http://schemas.microsoft.com/office/drawing/2014/main" id="{5E305C25-809E-3478-14C7-03DC08B4D048}"/>
                </a:ext>
              </a:extLst>
            </p:cNvPr>
            <p:cNvPicPr>
              <a:picLocks noChangeAspect="1"/>
            </p:cNvPicPr>
            <p:nvPr/>
          </p:nvPicPr>
          <p:blipFill>
            <a:blip r:embed="rId9"/>
            <a:stretch>
              <a:fillRect/>
            </a:stretch>
          </p:blipFill>
          <p:spPr>
            <a:xfrm>
              <a:off x="8656320" y="6439162"/>
              <a:ext cx="5493979" cy="522921"/>
            </a:xfrm>
            <a:prstGeom prst="rect">
              <a:avLst/>
            </a:prstGeom>
          </p:spPr>
        </p:pic>
        <p:pic>
          <p:nvPicPr>
            <p:cNvPr id="56" name="图片 55">
              <a:extLst>
                <a:ext uri="{FF2B5EF4-FFF2-40B4-BE49-F238E27FC236}">
                  <a16:creationId xmlns:a16="http://schemas.microsoft.com/office/drawing/2014/main" id="{72EE9CBC-3883-931F-BED4-53E8D5311B9B}"/>
                </a:ext>
              </a:extLst>
            </p:cNvPr>
            <p:cNvPicPr>
              <a:picLocks noChangeAspect="1"/>
            </p:cNvPicPr>
            <p:nvPr/>
          </p:nvPicPr>
          <p:blipFill>
            <a:blip r:embed="rId10"/>
            <a:stretch>
              <a:fillRect/>
            </a:stretch>
          </p:blipFill>
          <p:spPr>
            <a:xfrm>
              <a:off x="8731451" y="6813369"/>
              <a:ext cx="5392379" cy="617601"/>
            </a:xfrm>
            <a:prstGeom prst="rect">
              <a:avLst/>
            </a:prstGeom>
          </p:spPr>
        </p:pic>
        <p:pic>
          <p:nvPicPr>
            <p:cNvPr id="58" name="图片 57">
              <a:extLst>
                <a:ext uri="{FF2B5EF4-FFF2-40B4-BE49-F238E27FC236}">
                  <a16:creationId xmlns:a16="http://schemas.microsoft.com/office/drawing/2014/main" id="{468A4448-0CBD-B552-447A-F6C261A17813}"/>
                </a:ext>
              </a:extLst>
            </p:cNvPr>
            <p:cNvPicPr>
              <a:picLocks noChangeAspect="1"/>
            </p:cNvPicPr>
            <p:nvPr/>
          </p:nvPicPr>
          <p:blipFill>
            <a:blip r:embed="rId11"/>
            <a:stretch>
              <a:fillRect/>
            </a:stretch>
          </p:blipFill>
          <p:spPr>
            <a:xfrm>
              <a:off x="8720465" y="7357688"/>
              <a:ext cx="5429833" cy="910811"/>
            </a:xfrm>
            <a:prstGeom prst="rect">
              <a:avLst/>
            </a:prstGeom>
          </p:spPr>
        </p:pic>
      </p:grpSp>
      <p:pic>
        <p:nvPicPr>
          <p:cNvPr id="61" name="图片 60">
            <a:extLst>
              <a:ext uri="{FF2B5EF4-FFF2-40B4-BE49-F238E27FC236}">
                <a16:creationId xmlns:a16="http://schemas.microsoft.com/office/drawing/2014/main" id="{93E4DB12-8963-3C3B-4AAB-B7C83B637369}"/>
              </a:ext>
            </a:extLst>
          </p:cNvPr>
          <p:cNvPicPr>
            <a:picLocks noChangeAspect="1"/>
          </p:cNvPicPr>
          <p:nvPr/>
        </p:nvPicPr>
        <p:blipFill>
          <a:blip r:embed="rId12"/>
          <a:stretch>
            <a:fillRect/>
          </a:stretch>
        </p:blipFill>
        <p:spPr>
          <a:xfrm>
            <a:off x="14369579" y="3232296"/>
            <a:ext cx="3773459" cy="2286191"/>
          </a:xfrm>
          <a:prstGeom prst="rect">
            <a:avLst/>
          </a:prstGeom>
        </p:spPr>
      </p:pic>
      <p:sp>
        <p:nvSpPr>
          <p:cNvPr id="63" name="矩形: 圆角 62">
            <a:extLst>
              <a:ext uri="{FF2B5EF4-FFF2-40B4-BE49-F238E27FC236}">
                <a16:creationId xmlns:a16="http://schemas.microsoft.com/office/drawing/2014/main" id="{25C8BC26-684F-6096-7030-F7A2318C5939}"/>
              </a:ext>
            </a:extLst>
          </p:cNvPr>
          <p:cNvSpPr/>
          <p:nvPr/>
        </p:nvSpPr>
        <p:spPr>
          <a:xfrm>
            <a:off x="15275076" y="3008090"/>
            <a:ext cx="2165150" cy="262246"/>
          </a:xfrm>
          <a:prstGeom prst="roundRect">
            <a:avLst>
              <a:gd name="adj" fmla="val 31458"/>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sz="1600" dirty="0">
                <a:solidFill>
                  <a:schemeClr val="bg1"/>
                </a:solidFill>
              </a:rPr>
              <a:t>FOSCA</a:t>
            </a:r>
            <a:r>
              <a:rPr lang="zh-CN" altLang="en-US" sz="1600" dirty="0">
                <a:solidFill>
                  <a:schemeClr val="bg1"/>
                </a:solidFill>
              </a:rPr>
              <a:t>机制图</a:t>
            </a:r>
          </a:p>
        </p:txBody>
      </p:sp>
      <p:sp>
        <p:nvSpPr>
          <p:cNvPr id="65" name="矩形: 圆角 64">
            <a:extLst>
              <a:ext uri="{FF2B5EF4-FFF2-40B4-BE49-F238E27FC236}">
                <a16:creationId xmlns:a16="http://schemas.microsoft.com/office/drawing/2014/main" id="{10797D20-9739-E83B-5BAF-CF36447B405E}"/>
              </a:ext>
            </a:extLst>
          </p:cNvPr>
          <p:cNvSpPr/>
          <p:nvPr/>
        </p:nvSpPr>
        <p:spPr>
          <a:xfrm>
            <a:off x="15275076" y="5509949"/>
            <a:ext cx="2165150" cy="293635"/>
          </a:xfrm>
          <a:prstGeom prst="roundRect">
            <a:avLst>
              <a:gd name="adj" fmla="val 31458"/>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sz="1600" dirty="0">
                <a:solidFill>
                  <a:schemeClr val="bg1"/>
                </a:solidFill>
              </a:rPr>
              <a:t>FOSCA</a:t>
            </a:r>
            <a:r>
              <a:rPr lang="zh-CN" altLang="en-US" sz="1600" dirty="0">
                <a:solidFill>
                  <a:schemeClr val="bg1"/>
                </a:solidFill>
              </a:rPr>
              <a:t>流程图</a:t>
            </a:r>
          </a:p>
        </p:txBody>
      </p:sp>
      <p:pic>
        <p:nvPicPr>
          <p:cNvPr id="67" name="图片 66">
            <a:extLst>
              <a:ext uri="{FF2B5EF4-FFF2-40B4-BE49-F238E27FC236}">
                <a16:creationId xmlns:a16="http://schemas.microsoft.com/office/drawing/2014/main" id="{F7DF704A-C008-AE95-1381-067192E3F37C}"/>
              </a:ext>
            </a:extLst>
          </p:cNvPr>
          <p:cNvPicPr>
            <a:picLocks noChangeAspect="1"/>
          </p:cNvPicPr>
          <p:nvPr/>
        </p:nvPicPr>
        <p:blipFill>
          <a:blip r:embed="rId13"/>
          <a:stretch>
            <a:fillRect/>
          </a:stretch>
        </p:blipFill>
        <p:spPr>
          <a:xfrm>
            <a:off x="14419223" y="5803585"/>
            <a:ext cx="3723295" cy="1740216"/>
          </a:xfrm>
          <a:prstGeom prst="rect">
            <a:avLst/>
          </a:prstGeom>
        </p:spPr>
      </p:pic>
      <p:sp>
        <p:nvSpPr>
          <p:cNvPr id="69" name="矩形: 圆角 68">
            <a:extLst>
              <a:ext uri="{FF2B5EF4-FFF2-40B4-BE49-F238E27FC236}">
                <a16:creationId xmlns:a16="http://schemas.microsoft.com/office/drawing/2014/main" id="{F9E391D6-416A-BCF8-D095-63E8AD22F717}"/>
              </a:ext>
            </a:extLst>
          </p:cNvPr>
          <p:cNvSpPr/>
          <p:nvPr/>
        </p:nvSpPr>
        <p:spPr>
          <a:xfrm>
            <a:off x="15275076" y="7581366"/>
            <a:ext cx="2165150" cy="293635"/>
          </a:xfrm>
          <a:prstGeom prst="roundRect">
            <a:avLst>
              <a:gd name="adj" fmla="val 31458"/>
            </a:avLst>
          </a:prstGeom>
          <a:solidFill>
            <a:schemeClr val="accent1">
              <a:lumMod val="75000"/>
            </a:schemeClr>
          </a:solidFill>
          <a:ln w="12700" cap="flat" cmpd="sng" algn="ctr">
            <a:solidFill>
              <a:schemeClr val="accent1">
                <a:lumMod val="20000"/>
                <a:lumOff val="80000"/>
              </a:schemeClr>
            </a:solidFill>
            <a:prstDash val="solid"/>
            <a:miter lim="800000"/>
          </a:ln>
        </p:spPr>
        <p:txBody>
          <a:bodyPr rtlCol="0" anchor="ctr"/>
          <a:lstStyle/>
          <a:p>
            <a:pPr algn="ctr"/>
            <a:r>
              <a:rPr lang="en-US" altLang="zh-CN" sz="1600" dirty="0">
                <a:solidFill>
                  <a:schemeClr val="bg1"/>
                </a:solidFill>
              </a:rPr>
              <a:t>FOSCA</a:t>
            </a:r>
            <a:r>
              <a:rPr lang="zh-CN" altLang="en-US" sz="1600" dirty="0">
                <a:solidFill>
                  <a:schemeClr val="bg1"/>
                </a:solidFill>
              </a:rPr>
              <a:t>伪代码</a:t>
            </a:r>
          </a:p>
        </p:txBody>
      </p:sp>
      <p:pic>
        <p:nvPicPr>
          <p:cNvPr id="76" name="图片 75">
            <a:extLst>
              <a:ext uri="{FF2B5EF4-FFF2-40B4-BE49-F238E27FC236}">
                <a16:creationId xmlns:a16="http://schemas.microsoft.com/office/drawing/2014/main" id="{339A13AE-0948-BA66-AD58-52AAB80D2FC1}"/>
              </a:ext>
            </a:extLst>
          </p:cNvPr>
          <p:cNvPicPr>
            <a:picLocks noChangeAspect="1"/>
          </p:cNvPicPr>
          <p:nvPr/>
        </p:nvPicPr>
        <p:blipFill>
          <a:blip r:embed="rId14"/>
          <a:stretch>
            <a:fillRect/>
          </a:stretch>
        </p:blipFill>
        <p:spPr>
          <a:xfrm>
            <a:off x="139853" y="4533900"/>
            <a:ext cx="5159393" cy="3925749"/>
          </a:xfrm>
          <a:prstGeom prst="rect">
            <a:avLst/>
          </a:prstGeom>
        </p:spPr>
      </p:pic>
      <p:sp>
        <p:nvSpPr>
          <p:cNvPr id="80" name="文本框 79">
            <a:extLst>
              <a:ext uri="{FF2B5EF4-FFF2-40B4-BE49-F238E27FC236}">
                <a16:creationId xmlns:a16="http://schemas.microsoft.com/office/drawing/2014/main" id="{73BBEA5E-1C4B-08C8-82BE-5B93466CDA99}"/>
              </a:ext>
            </a:extLst>
          </p:cNvPr>
          <p:cNvSpPr txBox="1"/>
          <p:nvPr/>
        </p:nvSpPr>
        <p:spPr>
          <a:xfrm>
            <a:off x="91440" y="8491399"/>
            <a:ext cx="5262033" cy="1754326"/>
          </a:xfrm>
          <a:prstGeom prst="rect">
            <a:avLst/>
          </a:prstGeom>
          <a:noFill/>
        </p:spPr>
        <p:txBody>
          <a:bodyPr wrap="square">
            <a:spAutoFit/>
          </a:bodyPr>
          <a:lstStyle/>
          <a:p>
            <a:r>
              <a:rPr lang="en-US" altLang="zh-CN" sz="1200" dirty="0"/>
              <a:t>Fig. 1 The graphical abstract is organized into nine complementary components: </a:t>
            </a:r>
            <a:r>
              <a:rPr lang="en-US" altLang="zh-CN" sz="1200" b="1" dirty="0"/>
              <a:t>(A) </a:t>
            </a:r>
            <a:r>
              <a:rPr lang="en-US" altLang="zh-CN" sz="1200" dirty="0"/>
              <a:t>Pseudo-code of FOSCA; </a:t>
            </a:r>
            <a:r>
              <a:rPr lang="en-US" altLang="zh-CN" sz="1200" b="1" dirty="0"/>
              <a:t>(B) </a:t>
            </a:r>
            <a:r>
              <a:rPr lang="en-US" altLang="zh-CN" sz="1200" dirty="0"/>
              <a:t>FOSCA and other algorithms” </a:t>
            </a:r>
            <a:r>
              <a:rPr lang="en-US" altLang="zh-CN" sz="1200" dirty="0" err="1"/>
              <a:t>Firedman</a:t>
            </a:r>
            <a:r>
              <a:rPr lang="en-US" altLang="zh-CN" sz="1200" dirty="0"/>
              <a:t> ranking radar chart on each dataset; </a:t>
            </a:r>
            <a:r>
              <a:rPr lang="en-US" altLang="zh-CN" sz="1200" b="1" dirty="0"/>
              <a:t>(C) </a:t>
            </a:r>
            <a:r>
              <a:rPr lang="en-US" altLang="zh-CN" sz="1200" dirty="0" err="1"/>
              <a:t>Firedman</a:t>
            </a:r>
            <a:r>
              <a:rPr lang="en-US" altLang="zh-CN" sz="1200" dirty="0"/>
              <a:t> ranking of FOSCA compared to other algorithms; </a:t>
            </a:r>
            <a:r>
              <a:rPr lang="en-US" altLang="zh-CN" sz="1200" b="1" dirty="0"/>
              <a:t>(D) </a:t>
            </a:r>
            <a:r>
              <a:rPr lang="en-US" altLang="zh-CN" sz="1200" dirty="0"/>
              <a:t>FOSCA Variants Ablation Gain Heatmap;</a:t>
            </a:r>
            <a:r>
              <a:rPr lang="en-US" altLang="zh-CN" sz="1200" b="1" dirty="0"/>
              <a:t> (E) </a:t>
            </a:r>
            <a:r>
              <a:rPr lang="en-US" altLang="zh-CN" sz="1200" dirty="0"/>
              <a:t>Performance–Sparsity Pareto Fronts across 14 Datasets; </a:t>
            </a:r>
            <a:r>
              <a:rPr lang="en-US" altLang="zh-CN" sz="1200" b="1" dirty="0"/>
              <a:t>(F) </a:t>
            </a:r>
            <a:r>
              <a:rPr lang="en-US" altLang="zh-CN" sz="1200" dirty="0"/>
              <a:t>FOSCA Wilcoxon rank-sum test results chart: W/T/L summation and comparison algorithm; </a:t>
            </a:r>
            <a:r>
              <a:rPr lang="en-US" altLang="zh-CN" sz="1200" b="1" dirty="0"/>
              <a:t>(G) </a:t>
            </a:r>
            <a:r>
              <a:rPr lang="en-US" altLang="zh-CN" sz="1200" dirty="0"/>
              <a:t>FOSCA pairwise Wilcoxon outcome symbols across datasets; </a:t>
            </a:r>
            <a:r>
              <a:rPr lang="en-US" altLang="zh-CN" sz="1200" b="1" dirty="0"/>
              <a:t>(H) </a:t>
            </a:r>
            <a:r>
              <a:rPr lang="en-US" altLang="zh-CN" sz="1200" dirty="0"/>
              <a:t>FOSCA F1-score stability analysis (Violin plots and Box plots);</a:t>
            </a:r>
            <a:r>
              <a:rPr lang="en-US" altLang="zh-CN" sz="1200" b="1" dirty="0"/>
              <a:t> (I) </a:t>
            </a:r>
            <a:r>
              <a:rPr lang="en-US" altLang="zh-CN" sz="1200" dirty="0"/>
              <a:t>Algorithms / Metrics / Datasets pairwise Normalized Heatmap;</a:t>
            </a:r>
            <a:endParaRPr lang="zh-CN" altLang="en-US" sz="1200" dirty="0"/>
          </a:p>
        </p:txBody>
      </p:sp>
      <p:pic>
        <p:nvPicPr>
          <p:cNvPr id="82" name="图片 81">
            <a:extLst>
              <a:ext uri="{FF2B5EF4-FFF2-40B4-BE49-F238E27FC236}">
                <a16:creationId xmlns:a16="http://schemas.microsoft.com/office/drawing/2014/main" id="{F6FC5EA8-DB89-FAAD-F63E-458E260C0C03}"/>
              </a:ext>
            </a:extLst>
          </p:cNvPr>
          <p:cNvPicPr>
            <a:picLocks noChangeAspect="1"/>
          </p:cNvPicPr>
          <p:nvPr/>
        </p:nvPicPr>
        <p:blipFill>
          <a:blip r:embed="rId15"/>
          <a:stretch>
            <a:fillRect/>
          </a:stretch>
        </p:blipFill>
        <p:spPr>
          <a:xfrm>
            <a:off x="5330629" y="4884976"/>
            <a:ext cx="2712182" cy="970725"/>
          </a:xfrm>
          <a:prstGeom prst="rect">
            <a:avLst/>
          </a:prstGeom>
        </p:spPr>
      </p:pic>
      <p:sp>
        <p:nvSpPr>
          <p:cNvPr id="87" name="矩形: 圆角 86">
            <a:extLst>
              <a:ext uri="{FF2B5EF4-FFF2-40B4-BE49-F238E27FC236}">
                <a16:creationId xmlns:a16="http://schemas.microsoft.com/office/drawing/2014/main" id="{9A54EBA0-DA35-0C61-40B9-1C212C00DDBA}"/>
              </a:ext>
            </a:extLst>
          </p:cNvPr>
          <p:cNvSpPr/>
          <p:nvPr/>
        </p:nvSpPr>
        <p:spPr>
          <a:xfrm>
            <a:off x="5596824" y="4582344"/>
            <a:ext cx="2346959" cy="264888"/>
          </a:xfrm>
          <a:prstGeom prst="roundRect">
            <a:avLst>
              <a:gd name="adj" fmla="val 31458"/>
            </a:avLst>
          </a:prstGeom>
          <a:solidFill>
            <a:srgbClr val="018594"/>
          </a:solidFill>
          <a:ln w="12700" cap="flat" cmpd="sng" algn="ctr">
            <a:noFill/>
            <a:prstDash val="solid"/>
            <a:miter lim="800000"/>
          </a:ln>
        </p:spPr>
        <p:txBody>
          <a:bodyPr rtlCol="0" anchor="ctr"/>
          <a:lstStyle/>
          <a:p>
            <a:pPr algn="ctr"/>
            <a:r>
              <a:rPr lang="zh-CN" altLang="en-US" sz="1600" dirty="0">
                <a:solidFill>
                  <a:schemeClr val="bg1"/>
                </a:solidFill>
              </a:rPr>
              <a:t>参数敏感性分析</a:t>
            </a:r>
          </a:p>
        </p:txBody>
      </p:sp>
      <p:pic>
        <p:nvPicPr>
          <p:cNvPr id="89" name="图片 88">
            <a:extLst>
              <a:ext uri="{FF2B5EF4-FFF2-40B4-BE49-F238E27FC236}">
                <a16:creationId xmlns:a16="http://schemas.microsoft.com/office/drawing/2014/main" id="{EAC5EE15-2FA9-7C14-B6E6-6C6EB514D8D9}"/>
              </a:ext>
            </a:extLst>
          </p:cNvPr>
          <p:cNvPicPr>
            <a:picLocks noChangeAspect="1"/>
          </p:cNvPicPr>
          <p:nvPr/>
        </p:nvPicPr>
        <p:blipFill>
          <a:blip r:embed="rId16"/>
          <a:stretch>
            <a:fillRect/>
          </a:stretch>
        </p:blipFill>
        <p:spPr>
          <a:xfrm>
            <a:off x="5365018" y="6278251"/>
            <a:ext cx="2712182" cy="1227449"/>
          </a:xfrm>
          <a:prstGeom prst="rect">
            <a:avLst/>
          </a:prstGeom>
        </p:spPr>
      </p:pic>
      <p:sp>
        <p:nvSpPr>
          <p:cNvPr id="91" name="矩形: 圆角 90">
            <a:extLst>
              <a:ext uri="{FF2B5EF4-FFF2-40B4-BE49-F238E27FC236}">
                <a16:creationId xmlns:a16="http://schemas.microsoft.com/office/drawing/2014/main" id="{8809F5E9-5627-2D5E-38F7-74A33C49F7D9}"/>
              </a:ext>
            </a:extLst>
          </p:cNvPr>
          <p:cNvSpPr/>
          <p:nvPr/>
        </p:nvSpPr>
        <p:spPr>
          <a:xfrm>
            <a:off x="5616878" y="5976032"/>
            <a:ext cx="2346959" cy="264888"/>
          </a:xfrm>
          <a:prstGeom prst="roundRect">
            <a:avLst>
              <a:gd name="adj" fmla="val 31458"/>
            </a:avLst>
          </a:prstGeom>
          <a:solidFill>
            <a:srgbClr val="018594"/>
          </a:solidFill>
          <a:ln w="12700" cap="flat" cmpd="sng" algn="ctr">
            <a:noFill/>
            <a:prstDash val="solid"/>
            <a:miter lim="800000"/>
          </a:ln>
        </p:spPr>
        <p:txBody>
          <a:bodyPr rtlCol="0" anchor="ctr"/>
          <a:lstStyle/>
          <a:p>
            <a:pPr algn="ctr"/>
            <a:r>
              <a:rPr lang="zh-CN" altLang="en-US" sz="1600" dirty="0">
                <a:solidFill>
                  <a:schemeClr val="bg1"/>
                </a:solidFill>
              </a:rPr>
              <a:t>算法收敛性分析</a:t>
            </a:r>
          </a:p>
        </p:txBody>
      </p:sp>
      <p:sp>
        <p:nvSpPr>
          <p:cNvPr id="93" name="矩形: 圆角 92">
            <a:extLst>
              <a:ext uri="{FF2B5EF4-FFF2-40B4-BE49-F238E27FC236}">
                <a16:creationId xmlns:a16="http://schemas.microsoft.com/office/drawing/2014/main" id="{8ECC7523-FFF7-16B0-3C99-54B585AAA99E}"/>
              </a:ext>
            </a:extLst>
          </p:cNvPr>
          <p:cNvSpPr/>
          <p:nvPr/>
        </p:nvSpPr>
        <p:spPr>
          <a:xfrm>
            <a:off x="5590049" y="7571863"/>
            <a:ext cx="2434119" cy="264888"/>
          </a:xfrm>
          <a:prstGeom prst="roundRect">
            <a:avLst>
              <a:gd name="adj" fmla="val 31458"/>
            </a:avLst>
          </a:prstGeom>
          <a:solidFill>
            <a:srgbClr val="018594"/>
          </a:solidFill>
          <a:ln w="12700" cap="flat" cmpd="sng" algn="ctr">
            <a:noFill/>
            <a:prstDash val="solid"/>
            <a:miter lim="800000"/>
          </a:ln>
        </p:spPr>
        <p:txBody>
          <a:bodyPr rtlCol="0" anchor="ctr"/>
          <a:lstStyle/>
          <a:p>
            <a:pPr algn="ctr"/>
            <a:r>
              <a:rPr lang="zh-CN" altLang="en-US" sz="1600" dirty="0">
                <a:solidFill>
                  <a:schemeClr val="bg1"/>
                </a:solidFill>
              </a:rPr>
              <a:t>实际</a:t>
            </a:r>
            <a:r>
              <a:rPr lang="en-US" altLang="zh-CN" sz="1600" dirty="0">
                <a:solidFill>
                  <a:schemeClr val="bg1"/>
                </a:solidFill>
              </a:rPr>
              <a:t>CPU</a:t>
            </a:r>
            <a:r>
              <a:rPr lang="zh-CN" altLang="en-US" sz="1600" dirty="0">
                <a:solidFill>
                  <a:schemeClr val="bg1"/>
                </a:solidFill>
              </a:rPr>
              <a:t>运行时间（</a:t>
            </a:r>
            <a:r>
              <a:rPr lang="en-US" altLang="zh-CN" sz="1600" dirty="0">
                <a:solidFill>
                  <a:schemeClr val="bg1"/>
                </a:solidFill>
              </a:rPr>
              <a:t>8</a:t>
            </a:r>
            <a:r>
              <a:rPr lang="zh-CN" altLang="en-US" sz="1600" dirty="0">
                <a:solidFill>
                  <a:schemeClr val="bg1"/>
                </a:solidFill>
              </a:rPr>
              <a:t>并）</a:t>
            </a:r>
          </a:p>
        </p:txBody>
      </p:sp>
      <p:pic>
        <p:nvPicPr>
          <p:cNvPr id="97" name="图片 96">
            <a:extLst>
              <a:ext uri="{FF2B5EF4-FFF2-40B4-BE49-F238E27FC236}">
                <a16:creationId xmlns:a16="http://schemas.microsoft.com/office/drawing/2014/main" id="{35FB9C21-1D0E-065A-436C-5C6EB7C0368F}"/>
              </a:ext>
            </a:extLst>
          </p:cNvPr>
          <p:cNvPicPr>
            <a:picLocks noChangeAspect="1"/>
          </p:cNvPicPr>
          <p:nvPr/>
        </p:nvPicPr>
        <p:blipFill>
          <a:blip r:embed="rId17"/>
          <a:stretch>
            <a:fillRect/>
          </a:stretch>
        </p:blipFill>
        <p:spPr>
          <a:xfrm>
            <a:off x="5307713" y="8992657"/>
            <a:ext cx="2712182" cy="1253068"/>
          </a:xfrm>
          <a:prstGeom prst="rect">
            <a:avLst/>
          </a:prstGeom>
        </p:spPr>
      </p:pic>
      <p:pic>
        <p:nvPicPr>
          <p:cNvPr id="95" name="图片 94">
            <a:extLst>
              <a:ext uri="{FF2B5EF4-FFF2-40B4-BE49-F238E27FC236}">
                <a16:creationId xmlns:a16="http://schemas.microsoft.com/office/drawing/2014/main" id="{10E42B1C-7A7F-5653-F702-028B780B2AB7}"/>
              </a:ext>
            </a:extLst>
          </p:cNvPr>
          <p:cNvPicPr>
            <a:picLocks noChangeAspect="1"/>
          </p:cNvPicPr>
          <p:nvPr/>
        </p:nvPicPr>
        <p:blipFill>
          <a:blip r:embed="rId18"/>
          <a:stretch>
            <a:fillRect/>
          </a:stretch>
        </p:blipFill>
        <p:spPr>
          <a:xfrm>
            <a:off x="5610997" y="7880764"/>
            <a:ext cx="1698322" cy="1253068"/>
          </a:xfrm>
          <a:prstGeom prst="rect">
            <a:avLst/>
          </a:prstGeom>
        </p:spPr>
      </p:pic>
      <p:pic>
        <p:nvPicPr>
          <p:cNvPr id="125" name="图片 124">
            <a:extLst>
              <a:ext uri="{FF2B5EF4-FFF2-40B4-BE49-F238E27FC236}">
                <a16:creationId xmlns:a16="http://schemas.microsoft.com/office/drawing/2014/main" id="{731B0943-DBC5-7DC1-6005-66CEB052F6C8}"/>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6643" y="17780"/>
            <a:ext cx="762000" cy="587963"/>
          </a:xfrm>
          <a:prstGeom prst="rect">
            <a:avLst/>
          </a:prstGeom>
        </p:spPr>
      </p:pic>
      <p:grpSp>
        <p:nvGrpSpPr>
          <p:cNvPr id="133" name="组合 132">
            <a:extLst>
              <a:ext uri="{FF2B5EF4-FFF2-40B4-BE49-F238E27FC236}">
                <a16:creationId xmlns:a16="http://schemas.microsoft.com/office/drawing/2014/main" id="{0673D69C-4B46-7D5F-7402-5C09B9BEBC5A}"/>
              </a:ext>
            </a:extLst>
          </p:cNvPr>
          <p:cNvGrpSpPr/>
          <p:nvPr/>
        </p:nvGrpSpPr>
        <p:grpSpPr>
          <a:xfrm>
            <a:off x="563819" y="-8974"/>
            <a:ext cx="2209800" cy="419418"/>
            <a:chOff x="2806099" y="747572"/>
            <a:chExt cx="2817754" cy="366138"/>
          </a:xfrm>
        </p:grpSpPr>
        <p:sp>
          <p:nvSpPr>
            <p:cNvPr id="134" name="文本框 133">
              <a:extLst>
                <a:ext uri="{FF2B5EF4-FFF2-40B4-BE49-F238E27FC236}">
                  <a16:creationId xmlns:a16="http://schemas.microsoft.com/office/drawing/2014/main" id="{6BC65CC9-2054-B29B-187A-1947830F4F08}"/>
                </a:ext>
              </a:extLst>
            </p:cNvPr>
            <p:cNvSpPr txBox="1"/>
            <p:nvPr/>
          </p:nvSpPr>
          <p:spPr>
            <a:xfrm>
              <a:off x="3312337" y="747572"/>
              <a:ext cx="1805277" cy="295546"/>
            </a:xfrm>
            <a:prstGeom prst="rect">
              <a:avLst/>
            </a:prstGeom>
            <a:noFill/>
          </p:spPr>
          <p:txBody>
            <a:bodyPr wrap="none" rtlCol="0">
              <a:spAutoFit/>
            </a:bodyPr>
            <a:lstStyle>
              <a:defPPr>
                <a:defRPr lang="en-US"/>
              </a:defPPr>
              <a:lvl1pPr>
                <a:defRPr sz="4400">
                  <a:solidFill>
                    <a:schemeClr val="bg1"/>
                  </a:solidFill>
                  <a:latin typeface="叶根友毛笔行书简体" panose="02010601030101010101" pitchFamily="2" charset="-122"/>
                  <a:ea typeface="叶根友毛笔行书简体" panose="02010601030101010101" pitchFamily="2" charset="-122"/>
                </a:defRPr>
              </a:lvl1pPr>
            </a:lstStyle>
            <a:p>
              <a:r>
                <a:rPr lang="zh-CN" altLang="en-US" sz="1600" dirty="0">
                  <a:solidFill>
                    <a:schemeClr val="tx1"/>
                  </a:solidFill>
                  <a:latin typeface="三极行楷简体-粗" panose="00000500000000000000" charset="-122"/>
                  <a:ea typeface="三极行楷简体-粗" panose="00000500000000000000" charset="-122"/>
                  <a:cs typeface="三极行楷简体-粗" panose="00000500000000000000" charset="-122"/>
                </a:rPr>
                <a:t>江苏科技大学</a:t>
              </a:r>
            </a:p>
          </p:txBody>
        </p:sp>
        <p:sp>
          <p:nvSpPr>
            <p:cNvPr id="135" name="TextBox 17">
              <a:extLst>
                <a:ext uri="{FF2B5EF4-FFF2-40B4-BE49-F238E27FC236}">
                  <a16:creationId xmlns:a16="http://schemas.microsoft.com/office/drawing/2014/main" id="{2E486226-1EAA-7B21-0E81-C2A8FCB111D2}"/>
                </a:ext>
              </a:extLst>
            </p:cNvPr>
            <p:cNvSpPr txBox="1"/>
            <p:nvPr/>
          </p:nvSpPr>
          <p:spPr>
            <a:xfrm>
              <a:off x="2806099" y="925634"/>
              <a:ext cx="2817754" cy="188076"/>
            </a:xfrm>
            <a:prstGeom prst="rect">
              <a:avLst/>
            </a:prstGeom>
            <a:noFill/>
          </p:spPr>
          <p:txBody>
            <a:bodyPr wrap="square" rtlCol="0">
              <a:spAutoFit/>
            </a:bodyPr>
            <a:lstStyle>
              <a:defPPr>
                <a:defRPr lang="en-US"/>
              </a:defPPr>
              <a:lvl1pPr>
                <a:defRPr sz="4400">
                  <a:solidFill>
                    <a:schemeClr val="bg1"/>
                  </a:solidFill>
                  <a:latin typeface="叶根友毛笔行书简体" panose="02010601030101010101" pitchFamily="2" charset="-122"/>
                  <a:ea typeface="叶根友毛笔行书简体" panose="02010601030101010101" pitchFamily="2" charset="-122"/>
                </a:defRPr>
              </a:lvl1pPr>
            </a:lstStyle>
            <a:p>
              <a:r>
                <a:rPr lang="en-US" altLang="zh-CN" sz="800" b="1" dirty="0">
                  <a:solidFill>
                    <a:schemeClr val="tx1"/>
                  </a:solidFill>
                  <a:latin typeface="Times New Roman" panose="02020603050405020304" pitchFamily="18" charset="0"/>
                  <a:ea typeface="思源宋体 CN Medium" panose="02020500000000000000" charset="-122"/>
                  <a:cs typeface="Times New Roman" panose="02020603050405020304" pitchFamily="18" charset="0"/>
                </a:rPr>
                <a:t>Jiangsu University of Science and Technology</a:t>
              </a:r>
              <a:endParaRPr lang="en-US" sz="800" dirty="0">
                <a:solidFill>
                  <a:schemeClr val="tx1"/>
                </a:solidFill>
                <a:latin typeface="Times New Roman" panose="02020603050405020304" pitchFamily="18" charset="0"/>
                <a:ea typeface="思源宋体 CN Medium" panose="02020500000000000000" charset="-122"/>
                <a:cs typeface="Times New Roman" panose="02020603050405020304" pitchFamily="18" charset="0"/>
              </a:endParaRPr>
            </a:p>
          </p:txBody>
        </p:sp>
      </p:grpSp>
      <p:sp>
        <p:nvSpPr>
          <p:cNvPr id="7" name="矩形: 圆角 6">
            <a:extLst>
              <a:ext uri="{FF2B5EF4-FFF2-40B4-BE49-F238E27FC236}">
                <a16:creationId xmlns:a16="http://schemas.microsoft.com/office/drawing/2014/main" id="{8CADA9B6-8C44-D972-D325-1C36C12CCAEE}"/>
              </a:ext>
            </a:extLst>
          </p:cNvPr>
          <p:cNvSpPr/>
          <p:nvPr/>
        </p:nvSpPr>
        <p:spPr>
          <a:xfrm>
            <a:off x="8184566" y="668933"/>
            <a:ext cx="10006531" cy="314492"/>
          </a:xfrm>
          <a:prstGeom prst="roundRect">
            <a:avLst>
              <a:gd name="adj" fmla="val 18333"/>
            </a:avLst>
          </a:prstGeom>
          <a:solidFill>
            <a:srgbClr val="013D94"/>
          </a:solidFill>
          <a:ln w="12700" cap="flat" cmpd="sng" algn="ctr">
            <a:noFill/>
            <a:prstDash val="solid"/>
            <a:miter lim="800000"/>
          </a:ln>
        </p:spPr>
        <p:txBody>
          <a:bodyPr rtlCol="0" anchor="ctr"/>
          <a:lstStyle/>
          <a:p>
            <a:pPr algn="ctr"/>
            <a:r>
              <a:rPr lang="zh-CN" altLang="en-US" sz="1600" dirty="0">
                <a:solidFill>
                  <a:schemeClr val="bg1"/>
                </a:solidFill>
              </a:rPr>
              <a:t>贡献 </a:t>
            </a:r>
            <a:r>
              <a:rPr lang="en-US" altLang="zh-CN" dirty="0">
                <a:solidFill>
                  <a:schemeClr val="bg1"/>
                </a:solidFill>
              </a:rPr>
              <a:t>CONTRIBUTION</a:t>
            </a:r>
            <a:endParaRPr lang="zh-CN" altLang="en-US" sz="1600" dirty="0">
              <a:solidFill>
                <a:schemeClr val="bg1"/>
              </a:solidFill>
            </a:endParaRPr>
          </a:p>
        </p:txBody>
      </p:sp>
      <p:sp>
        <p:nvSpPr>
          <p:cNvPr id="28" name="矩形: 圆角 27">
            <a:extLst>
              <a:ext uri="{FF2B5EF4-FFF2-40B4-BE49-F238E27FC236}">
                <a16:creationId xmlns:a16="http://schemas.microsoft.com/office/drawing/2014/main" id="{D6955FBD-2656-61AA-B9A6-C116154AE683}"/>
              </a:ext>
            </a:extLst>
          </p:cNvPr>
          <p:cNvSpPr/>
          <p:nvPr/>
        </p:nvSpPr>
        <p:spPr>
          <a:xfrm>
            <a:off x="8184566" y="668934"/>
            <a:ext cx="9990222" cy="1977691"/>
          </a:xfrm>
          <a:prstGeom prst="roundRect">
            <a:avLst>
              <a:gd name="adj" fmla="val 3328"/>
            </a:avLst>
          </a:prstGeom>
          <a:noFill/>
          <a:ln w="12700" cap="flat" cmpd="sng" algn="ctr">
            <a:solidFill>
              <a:schemeClr val="accent1">
                <a:lumMod val="75000"/>
              </a:schemeClr>
            </a:solidFill>
            <a:prstDash val="solid"/>
            <a:miter lim="800000"/>
          </a:ln>
        </p:spPr>
        <p:txBody>
          <a:bodyPr rtlCol="0" anchor="ctr"/>
          <a:lstStyle/>
          <a:p>
            <a:pPr algn="l"/>
            <a:endParaRPr lang="zh-CN" altLang="en-US" dirty="0"/>
          </a:p>
        </p:txBody>
      </p:sp>
      <p:sp>
        <p:nvSpPr>
          <p:cNvPr id="31" name="文本框 30">
            <a:extLst>
              <a:ext uri="{FF2B5EF4-FFF2-40B4-BE49-F238E27FC236}">
                <a16:creationId xmlns:a16="http://schemas.microsoft.com/office/drawing/2014/main" id="{2DCDC1F7-243D-7BBD-BDA5-DF8D4E8CA3AB}"/>
              </a:ext>
            </a:extLst>
          </p:cNvPr>
          <p:cNvSpPr txBox="1"/>
          <p:nvPr/>
        </p:nvSpPr>
        <p:spPr>
          <a:xfrm>
            <a:off x="8161039" y="932083"/>
            <a:ext cx="9593562" cy="1708160"/>
          </a:xfrm>
          <a:prstGeom prst="rect">
            <a:avLst/>
          </a:prstGeom>
          <a:noFill/>
        </p:spPr>
        <p:txBody>
          <a:bodyPr wrap="square">
            <a:spAutoFit/>
          </a:bodyPr>
          <a:lstStyle/>
          <a:p>
            <a:pPr marL="285750" indent="-285750">
              <a:spcBef>
                <a:spcPts val="600"/>
              </a:spcBef>
              <a:buFont typeface="Wingdings" panose="05000000000000000000" pitchFamily="2" charset="2"/>
              <a:buChar char="l"/>
            </a:pPr>
            <a:r>
              <a:rPr lang="en-US" altLang="zh-CN" sz="1500" dirty="0"/>
              <a:t>We propose the FOSCA, a fractional-order elite-memory SCA framework for wrapper based feature selection. </a:t>
            </a:r>
          </a:p>
          <a:p>
            <a:pPr marL="285750" indent="-285750">
              <a:spcBef>
                <a:spcPts val="600"/>
              </a:spcBef>
              <a:buFont typeface="Wingdings" panose="05000000000000000000" pitchFamily="2" charset="2"/>
              <a:buChar char="l"/>
            </a:pPr>
            <a:r>
              <a:rPr lang="en-US" altLang="zh-CN" sz="1500" dirty="0"/>
              <a:t>We designed a dynamic elite-center guidance mechanism to reduce the SCA’s dependence on a single global optimal solution. This improves the balance between population-level exploration and local exploitation.</a:t>
            </a:r>
          </a:p>
          <a:p>
            <a:pPr marL="285750" indent="-285750">
              <a:spcBef>
                <a:spcPts val="600"/>
              </a:spcBef>
              <a:buFont typeface="Wingdings" panose="05000000000000000000" pitchFamily="2" charset="2"/>
              <a:buChar char="l"/>
            </a:pPr>
            <a:r>
              <a:rPr lang="en-US" altLang="zh-CN" sz="1500" dirty="0"/>
              <a:t>We developed an alpha-coupled nonlinear search-factor decay strategy to control the perturbation amplitude of the SCA. This makes the search process more suitable for discretized feature selection.</a:t>
            </a:r>
          </a:p>
          <a:p>
            <a:pPr marL="285750" indent="-285750">
              <a:spcBef>
                <a:spcPts val="600"/>
              </a:spcBef>
              <a:buFont typeface="Wingdings" panose="05000000000000000000" pitchFamily="2" charset="2"/>
              <a:buChar char="l"/>
            </a:pPr>
            <a:r>
              <a:rPr lang="en-US" altLang="zh-CN" sz="1500" dirty="0"/>
              <a:t>We evaluated the proposed mechanisms using multiple classification performance metrics, the statistical significance.</a:t>
            </a:r>
          </a:p>
        </p:txBody>
      </p:sp>
    </p:spTree>
    <p:extLst>
      <p:ext uri="{BB962C8B-B14F-4D97-AF65-F5344CB8AC3E}">
        <p14:creationId xmlns:p14="http://schemas.microsoft.com/office/powerpoint/2010/main" val="35589540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JhMGNmNTI4MDM4NmE3N2YwMTVmYmJlNTZhOGY1ZD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nt">
      <a:majorFont>
        <a:latin typeface="Times New Roman"/>
        <a:ea typeface="思源宋体 CN Medium"/>
        <a:cs typeface=""/>
      </a:majorFont>
      <a:minorFont>
        <a:latin typeface="Times New Roman"/>
        <a:ea typeface="思源宋体 CN Mediu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0">
          <a:gsLst>
            <a:gs pos="45000">
              <a:srgbClr val="013D94">
                <a:alpha val="44000"/>
              </a:srgbClr>
            </a:gs>
            <a:gs pos="0">
              <a:srgbClr val="013D94">
                <a:alpha val="4000"/>
              </a:srgbClr>
            </a:gs>
            <a:gs pos="85000">
              <a:srgbClr val="024D9D"/>
            </a:gs>
          </a:gsLst>
          <a:lin ang="10800000" scaled="1"/>
        </a:gradFill>
        <a:ln w="12700" cap="flat" cmpd="sng" algn="ctr">
          <a:noFill/>
          <a:prstDash val="solid"/>
          <a:miter lim="800000"/>
        </a:ln>
      </a:spPr>
      <a:bodyPr/>
      <a:lstStyle>
        <a:defPPr algn="l">
          <a:defRPr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CN Medium"/>
        <a:ea typeface=""/>
        <a:cs typeface=""/>
        <a:font script="Jpan" typeface="游ゴシック"/>
        <a:font script="Hang" typeface="맑은 고딕"/>
        <a:font script="Hans" typeface="思源宋体 CN Medium"/>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思源宋体 CN Medium"/>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TotalTime>
  <Words>2879</Words>
  <Application>Microsoft Office PowerPoint</Application>
  <PresentationFormat>自定义</PresentationFormat>
  <Paragraphs>87</Paragraphs>
  <Slides>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Times New Roman</vt:lpstr>
      <vt:lpstr>Wingdings</vt:lpstr>
      <vt:lpstr>思源宋体 CN Medium</vt:lpstr>
      <vt:lpstr>Cambria Math</vt:lpstr>
      <vt:lpstr>三极行楷简体-粗</vt:lpstr>
      <vt:lpstr>Arial</vt:lpstr>
      <vt:lpstr>Office Theme</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x2281</dc:creator>
  <cp:lastModifiedBy>x2281184961@qq.com</cp:lastModifiedBy>
  <cp:revision>368</cp:revision>
  <dcterms:created xsi:type="dcterms:W3CDTF">2024-07-20T13:44:30Z</dcterms:created>
  <dcterms:modified xsi:type="dcterms:W3CDTF">2026-09-29T06:27:20Z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9CA1339C12F04498B3D58AA7D7AA871B_12</vt:lpwstr>
  </property>
  <property fmtid="{D5CDD505-2E9C-101B-9397-08002B2CF9AE}" pid="3" name="KSOProductBuildVer">
    <vt:lpwstr>2052-12.1.0.17147</vt:lpwstr>
  </property>
</Properties>
</file>